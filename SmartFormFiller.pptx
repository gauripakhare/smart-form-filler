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notesMasterIdLst>
    <p:notesMasterId r:id="rId10"/>
  </p:notesMasterIdLst>
  <p:sldIdLst>
    <p:sldId id="257" r:id="rId2"/>
    <p:sldId id="258" r:id="rId3"/>
    <p:sldId id="260" r:id="rId4"/>
    <p:sldId id="261" r:id="rId5"/>
    <p:sldId id="268" r:id="rId6"/>
    <p:sldId id="262" r:id="rId7"/>
    <p:sldId id="269" r:id="rId8"/>
    <p:sldId id="27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21D23FC-2E79-4328-AA01-6A2D86C8E10B}">
          <p14:sldIdLst>
            <p14:sldId id="257"/>
            <p14:sldId id="258"/>
            <p14:sldId id="260"/>
            <p14:sldId id="261"/>
            <p14:sldId id="268"/>
            <p14:sldId id="262"/>
            <p14:sldId id="269"/>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04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diagrams/_rels/data1.xml.rels><?xml version="1.0" encoding="UTF-8" standalone="yes"?>
<Relationships xmlns="http://schemas.openxmlformats.org/package/2006/relationships"><Relationship Id="rId1" Type="http://schemas.openxmlformats.org/officeDocument/2006/relationships/hyperlink" Target="http://OCR.space" TargetMode="External" /></Relationships>
</file>

<file path=ppt/diagrams/_rels/drawing1.xml.rels><?xml version="1.0" encoding="UTF-8" standalone="yes"?>
<Relationships xmlns="http://schemas.openxmlformats.org/package/2006/relationships"><Relationship Id="rId1" Type="http://schemas.openxmlformats.org/officeDocument/2006/relationships/hyperlink" Target="http://OCR.space" TargetMode="Externa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F42FC53-8223-44F4-A187-EEE430D41958}"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E6EECC72-3BF0-4049-9580-F593D30C5A93}">
      <dgm:prSet phldrT="[Text]"/>
      <dgm:spPr>
        <a:solidFill>
          <a:schemeClr val="accent2">
            <a:lumMod val="20000"/>
            <a:lumOff val="80000"/>
          </a:schemeClr>
        </a:solidFill>
      </dgm:spPr>
      <dgm:t>
        <a:bodyPr/>
        <a:lstStyle/>
        <a:p>
          <a:r>
            <a:rPr lang="en-US" b="1" u="sng">
              <a:solidFill>
                <a:schemeClr val="tx1">
                  <a:lumMod val="65000"/>
                  <a:lumOff val="35000"/>
                </a:schemeClr>
              </a:solidFill>
              <a:latin typeface="Lato Bold"/>
              <a:ea typeface="Lato Bold"/>
              <a:cs typeface="Lato Bold"/>
            </a:rPr>
            <a:t>User Authentication:</a:t>
          </a:r>
        </a:p>
        <a:p>
          <a:r>
            <a:rPr lang="en-US">
              <a:solidFill>
                <a:srgbClr val="4A4A45"/>
              </a:solidFill>
              <a:latin typeface="Lato"/>
              <a:ea typeface="Lato"/>
              <a:cs typeface="Lato"/>
            </a:rPr>
            <a:t>Secure login through </a:t>
          </a:r>
          <a:r>
            <a:rPr lang="en-US" err="1">
              <a:solidFill>
                <a:srgbClr val="4A4A45"/>
              </a:solidFill>
              <a:latin typeface="Lato"/>
              <a:ea typeface="Lato"/>
              <a:cs typeface="Lato"/>
            </a:rPr>
            <a:t>SupaBase</a:t>
          </a:r>
          <a:r>
            <a:rPr lang="en-US">
              <a:solidFill>
                <a:srgbClr val="4A4A45"/>
              </a:solidFill>
              <a:latin typeface="Lato"/>
              <a:ea typeface="Lato"/>
              <a:cs typeface="Lato"/>
            </a:rPr>
            <a:t>.</a:t>
          </a:r>
          <a:endParaRPr lang="en-IN">
            <a:solidFill>
              <a:schemeClr val="bg1"/>
            </a:solidFill>
            <a:latin typeface="Lato"/>
            <a:ea typeface="Lato"/>
            <a:cs typeface="Lato"/>
          </a:endParaRPr>
        </a:p>
      </dgm:t>
    </dgm:pt>
    <dgm:pt modelId="{373F0B13-0A24-43B1-BED5-1D1386BF3323}" type="parTrans" cxnId="{12F5D883-AAB3-45F8-A377-5CCA31DCF12B}">
      <dgm:prSet/>
      <dgm:spPr/>
      <dgm:t>
        <a:bodyPr/>
        <a:lstStyle/>
        <a:p>
          <a:endParaRPr lang="en-IN"/>
        </a:p>
      </dgm:t>
    </dgm:pt>
    <dgm:pt modelId="{EF00BC93-FC85-46BD-8245-5A3AD40F19B9}" type="sibTrans" cxnId="{12F5D883-AAB3-45F8-A377-5CCA31DCF12B}">
      <dgm:prSet/>
      <dgm:spPr/>
      <dgm:t>
        <a:bodyPr/>
        <a:lstStyle/>
        <a:p>
          <a:endParaRPr lang="en-IN"/>
        </a:p>
      </dgm:t>
    </dgm:pt>
    <dgm:pt modelId="{2793897F-09A4-4954-8F01-17E627D79975}">
      <dgm:prSet phldrT="[Text]"/>
      <dgm:spPr>
        <a:solidFill>
          <a:schemeClr val="accent2">
            <a:lumMod val="20000"/>
            <a:lumOff val="80000"/>
          </a:schemeClr>
        </a:solidFill>
      </dgm:spPr>
      <dgm:t>
        <a:bodyPr/>
        <a:lstStyle/>
        <a:p>
          <a:r>
            <a:rPr lang="en-US" b="1" u="sng">
              <a:solidFill>
                <a:schemeClr val="tx1">
                  <a:lumMod val="65000"/>
                  <a:lumOff val="35000"/>
                </a:schemeClr>
              </a:solidFill>
              <a:latin typeface="Lato Bold"/>
              <a:ea typeface="Lato Bold"/>
              <a:cs typeface="Lato Bold"/>
            </a:rPr>
            <a:t>OCR Extraction:</a:t>
          </a:r>
        </a:p>
        <a:p>
          <a:r>
            <a:rPr lang="en-US">
              <a:solidFill>
                <a:srgbClr val="4A4A45"/>
              </a:solidFill>
              <a:latin typeface="Lato"/>
              <a:ea typeface="Lato"/>
              <a:cs typeface="Lato"/>
            </a:rPr>
            <a:t>Raw text is pulled from documents via </a:t>
          </a:r>
          <a:r>
            <a:rPr lang="en-US" u="sng">
              <a:solidFill>
                <a:srgbClr val="282824"/>
              </a:solidFill>
              <a:latin typeface="Lato"/>
              <a:ea typeface="Lato"/>
              <a:cs typeface="Lato"/>
              <a:hlinkClick xmlns:r="http://schemas.openxmlformats.org/officeDocument/2006/relationships" r:id="rId1">
                <a:extLst>
                  <a:ext uri="{A12FA001-AC4F-418D-AE19-62706E023703}">
                    <ahyp:hlinkClr xmlns:ahyp="http://schemas.microsoft.com/office/drawing/2018/hyperlinkcolor" val="tx"/>
                  </a:ext>
                </a:extLst>
              </a:hlinkClick>
            </a:rPr>
            <a:t>OCR.space</a:t>
          </a:r>
          <a:r>
            <a:rPr lang="en-US">
              <a:solidFill>
                <a:srgbClr val="4A4A45"/>
              </a:solidFill>
              <a:latin typeface="Lato"/>
              <a:ea typeface="Lato"/>
              <a:cs typeface="Lato"/>
            </a:rPr>
            <a:t> API.</a:t>
          </a:r>
          <a:endParaRPr lang="en-IN">
            <a:solidFill>
              <a:schemeClr val="bg1"/>
            </a:solidFill>
            <a:latin typeface="Lato"/>
            <a:ea typeface="Lato"/>
            <a:cs typeface="Lato"/>
          </a:endParaRPr>
        </a:p>
      </dgm:t>
    </dgm:pt>
    <dgm:pt modelId="{07E4112B-75E2-43F4-A51A-CA27BB06B717}" type="parTrans" cxnId="{010E57C8-4E06-4375-ABB5-19FEA61E42D4}">
      <dgm:prSet/>
      <dgm:spPr/>
      <dgm:t>
        <a:bodyPr/>
        <a:lstStyle/>
        <a:p>
          <a:endParaRPr lang="en-IN"/>
        </a:p>
      </dgm:t>
    </dgm:pt>
    <dgm:pt modelId="{4B4A300E-7ADA-4438-9482-B41DA21E1BA0}" type="sibTrans" cxnId="{010E57C8-4E06-4375-ABB5-19FEA61E42D4}">
      <dgm:prSet/>
      <dgm:spPr>
        <a:solidFill>
          <a:schemeClr val="tx1">
            <a:lumMod val="65000"/>
            <a:lumOff val="35000"/>
          </a:schemeClr>
        </a:solidFill>
      </dgm:spPr>
      <dgm:t>
        <a:bodyPr/>
        <a:lstStyle/>
        <a:p>
          <a:endParaRPr lang="en-IN"/>
        </a:p>
      </dgm:t>
    </dgm:pt>
    <dgm:pt modelId="{4F0CE948-0297-4181-8996-14F50AAD2D50}">
      <dgm:prSet phldrT="[Text]"/>
      <dgm:spPr>
        <a:solidFill>
          <a:schemeClr val="accent2">
            <a:lumMod val="20000"/>
            <a:lumOff val="80000"/>
          </a:schemeClr>
        </a:solidFill>
      </dgm:spPr>
      <dgm:t>
        <a:bodyPr/>
        <a:lstStyle/>
        <a:p>
          <a:pPr>
            <a:buNone/>
          </a:pPr>
          <a:r>
            <a:rPr lang="en-US" b="1" u="sng">
              <a:solidFill>
                <a:schemeClr val="tx1">
                  <a:lumMod val="65000"/>
                  <a:lumOff val="35000"/>
                </a:schemeClr>
              </a:solidFill>
              <a:latin typeface="Lato Bold"/>
              <a:ea typeface="Lato Bold"/>
              <a:cs typeface="Lato Bold"/>
            </a:rPr>
            <a:t>AI Mapping:</a:t>
          </a:r>
        </a:p>
        <a:p>
          <a:pPr>
            <a:buNone/>
          </a:pPr>
          <a:r>
            <a:rPr lang="en-US" err="1">
              <a:solidFill>
                <a:srgbClr val="4A4A45"/>
              </a:solidFill>
              <a:latin typeface="Lato"/>
              <a:ea typeface="Lato"/>
              <a:cs typeface="Lato"/>
            </a:rPr>
            <a:t>Groq</a:t>
          </a:r>
          <a:r>
            <a:rPr lang="en-US">
              <a:solidFill>
                <a:srgbClr val="4A4A45"/>
              </a:solidFill>
              <a:latin typeface="Lato"/>
              <a:ea typeface="Lato"/>
              <a:cs typeface="Lato"/>
            </a:rPr>
            <a:t> AI converts unstructured text into specific form fields.</a:t>
          </a:r>
          <a:endParaRPr lang="en-IN" b="1" u="sng">
            <a:solidFill>
              <a:schemeClr val="tx1">
                <a:lumMod val="65000"/>
                <a:lumOff val="35000"/>
              </a:schemeClr>
            </a:solidFill>
            <a:latin typeface="Lato"/>
            <a:ea typeface="Lato"/>
            <a:cs typeface="Lato"/>
          </a:endParaRPr>
        </a:p>
      </dgm:t>
    </dgm:pt>
    <dgm:pt modelId="{088C6CDA-1BC0-4FE2-8A35-83D1EA6236B2}" type="parTrans" cxnId="{D399FE2A-2EE9-4543-AD0D-AE8573273139}">
      <dgm:prSet/>
      <dgm:spPr/>
      <dgm:t>
        <a:bodyPr/>
        <a:lstStyle/>
        <a:p>
          <a:endParaRPr lang="en-IN"/>
        </a:p>
      </dgm:t>
    </dgm:pt>
    <dgm:pt modelId="{372C04F8-050E-49B4-A4F3-B0A98CA90D8A}" type="sibTrans" cxnId="{D399FE2A-2EE9-4543-AD0D-AE8573273139}">
      <dgm:prSet/>
      <dgm:spPr/>
      <dgm:t>
        <a:bodyPr/>
        <a:lstStyle/>
        <a:p>
          <a:endParaRPr lang="en-IN"/>
        </a:p>
      </dgm:t>
    </dgm:pt>
    <dgm:pt modelId="{1D9A2FD3-AFA8-4081-9BA5-634679D66ACB}">
      <dgm:prSet phldrT="[Text]"/>
      <dgm:spPr>
        <a:solidFill>
          <a:schemeClr val="accent2">
            <a:lumMod val="20000"/>
            <a:lumOff val="80000"/>
          </a:schemeClr>
        </a:solidFill>
      </dgm:spPr>
      <dgm:t>
        <a:bodyPr/>
        <a:lstStyle/>
        <a:p>
          <a:pPr>
            <a:buNone/>
          </a:pPr>
          <a:r>
            <a:rPr lang="en-US" b="1" u="sng">
              <a:solidFill>
                <a:schemeClr val="tx1">
                  <a:lumMod val="65000"/>
                  <a:lumOff val="35000"/>
                </a:schemeClr>
              </a:solidFill>
              <a:latin typeface="Lato Bold"/>
              <a:ea typeface="Lato Bold"/>
              <a:cs typeface="Lato Bold"/>
            </a:rPr>
            <a:t>Review &amp; Edit:</a:t>
          </a:r>
        </a:p>
        <a:p>
          <a:pPr>
            <a:buNone/>
          </a:pPr>
          <a:r>
            <a:rPr lang="en-US">
              <a:solidFill>
                <a:srgbClr val="4A4A45"/>
              </a:solidFill>
              <a:latin typeface="Lato"/>
              <a:ea typeface="Lato"/>
              <a:cs typeface="Lato"/>
            </a:rPr>
            <a:t>Users can manually verify and correct data before final submission.</a:t>
          </a:r>
          <a:endParaRPr lang="en-IN" u="sng">
            <a:solidFill>
              <a:schemeClr val="tx1">
                <a:lumMod val="65000"/>
                <a:lumOff val="35000"/>
              </a:schemeClr>
            </a:solidFill>
            <a:latin typeface="Lato"/>
            <a:ea typeface="Lato"/>
            <a:cs typeface="Lato"/>
          </a:endParaRPr>
        </a:p>
      </dgm:t>
    </dgm:pt>
    <dgm:pt modelId="{FB7C902D-5ED6-49ED-985C-F6AE2006F3F2}" type="parTrans" cxnId="{76311B19-282C-4681-9A96-78DE901D3C4B}">
      <dgm:prSet/>
      <dgm:spPr/>
      <dgm:t>
        <a:bodyPr/>
        <a:lstStyle/>
        <a:p>
          <a:endParaRPr lang="en-IN"/>
        </a:p>
      </dgm:t>
    </dgm:pt>
    <dgm:pt modelId="{D8AEFD73-C0AA-4487-8278-39C9435ADF7E}" type="sibTrans" cxnId="{76311B19-282C-4681-9A96-78DE901D3C4B}">
      <dgm:prSet/>
      <dgm:spPr/>
      <dgm:t>
        <a:bodyPr/>
        <a:lstStyle/>
        <a:p>
          <a:endParaRPr lang="en-IN"/>
        </a:p>
      </dgm:t>
    </dgm:pt>
    <dgm:pt modelId="{7E3D8226-135D-40A5-84B1-C9BF3769042B}">
      <dgm:prSet phldrT="[Text]"/>
      <dgm:spPr>
        <a:solidFill>
          <a:schemeClr val="accent2">
            <a:lumMod val="20000"/>
            <a:lumOff val="80000"/>
          </a:schemeClr>
        </a:solidFill>
      </dgm:spPr>
      <dgm:t>
        <a:bodyPr/>
        <a:lstStyle/>
        <a:p>
          <a:r>
            <a:rPr lang="en-US" b="1" u="sng">
              <a:solidFill>
                <a:schemeClr val="tx1">
                  <a:lumMod val="65000"/>
                  <a:lumOff val="35000"/>
                </a:schemeClr>
              </a:solidFill>
              <a:latin typeface="Lato Bold"/>
              <a:ea typeface="Lato Bold"/>
              <a:cs typeface="Lato Bold"/>
            </a:rPr>
            <a:t>Document Upload:</a:t>
          </a:r>
        </a:p>
        <a:p>
          <a:pPr rtl="0"/>
          <a:r>
            <a:rPr lang="en-US">
              <a:solidFill>
                <a:srgbClr val="4A4A45"/>
              </a:solidFill>
              <a:latin typeface="Lato"/>
              <a:ea typeface="Lato"/>
              <a:cs typeface="Lato"/>
            </a:rPr>
            <a:t>Users upload PDFs or Images (Aadhaar, PAN, etc.).</a:t>
          </a:r>
          <a:endParaRPr lang="en-IN">
            <a:solidFill>
              <a:schemeClr val="bg1"/>
            </a:solidFill>
            <a:latin typeface="Lato"/>
            <a:ea typeface="Lato"/>
            <a:cs typeface="Lato"/>
          </a:endParaRPr>
        </a:p>
      </dgm:t>
    </dgm:pt>
    <dgm:pt modelId="{F0ECB518-D7FB-4C4A-861A-444CB41AD3A1}" type="parTrans" cxnId="{FCF6188A-7BB6-45DB-B386-2938958C2526}">
      <dgm:prSet/>
      <dgm:spPr/>
      <dgm:t>
        <a:bodyPr/>
        <a:lstStyle/>
        <a:p>
          <a:endParaRPr lang="en-IN"/>
        </a:p>
      </dgm:t>
    </dgm:pt>
    <dgm:pt modelId="{89182828-5A40-4B7F-ACEB-D4807AFE68C1}" type="sibTrans" cxnId="{FCF6188A-7BB6-45DB-B386-2938958C2526}">
      <dgm:prSet/>
      <dgm:spPr/>
      <dgm:t>
        <a:bodyPr/>
        <a:lstStyle/>
        <a:p>
          <a:endParaRPr lang="en-IN"/>
        </a:p>
      </dgm:t>
    </dgm:pt>
    <dgm:pt modelId="{0A267A8B-EAC8-48A8-8B23-7FCC5CB0F257}">
      <dgm:prSet phldrT="[Text]"/>
      <dgm:spPr>
        <a:solidFill>
          <a:schemeClr val="accent2">
            <a:lumMod val="20000"/>
            <a:lumOff val="80000"/>
          </a:schemeClr>
        </a:solidFill>
      </dgm:spPr>
      <dgm:t>
        <a:bodyPr/>
        <a:lstStyle/>
        <a:p>
          <a:pPr>
            <a:buNone/>
          </a:pPr>
          <a:r>
            <a:rPr lang="en-US" b="1" u="sng">
              <a:solidFill>
                <a:schemeClr val="tx1">
                  <a:lumMod val="65000"/>
                  <a:lumOff val="35000"/>
                </a:schemeClr>
              </a:solidFill>
              <a:latin typeface="Lato Bold"/>
              <a:ea typeface="Lato Bold"/>
              <a:cs typeface="Lato Bold"/>
            </a:rPr>
            <a:t>Submission:</a:t>
          </a:r>
        </a:p>
        <a:p>
          <a:pPr>
            <a:buNone/>
          </a:pPr>
          <a:r>
            <a:rPr lang="en-US">
              <a:solidFill>
                <a:srgbClr val="4A4A45"/>
              </a:solidFill>
              <a:latin typeface="Lato"/>
              <a:ea typeface="Lato"/>
              <a:cs typeface="Lato"/>
            </a:rPr>
            <a:t>Forms are submitted and can be downloaded as a PDF for offline use.</a:t>
          </a:r>
          <a:endParaRPr lang="en-IN" u="sng">
            <a:solidFill>
              <a:schemeClr val="tx1">
                <a:lumMod val="65000"/>
                <a:lumOff val="35000"/>
              </a:schemeClr>
            </a:solidFill>
            <a:latin typeface="Lato"/>
            <a:ea typeface="Lato"/>
            <a:cs typeface="Lato"/>
          </a:endParaRPr>
        </a:p>
      </dgm:t>
    </dgm:pt>
    <dgm:pt modelId="{6535B553-034F-44D1-A0D4-BBEC5F0DF13D}" type="sibTrans" cxnId="{8E015480-CDC5-44B8-A43F-27225FCA7B26}">
      <dgm:prSet/>
      <dgm:spPr/>
      <dgm:t>
        <a:bodyPr/>
        <a:lstStyle/>
        <a:p>
          <a:endParaRPr lang="en-IN"/>
        </a:p>
      </dgm:t>
    </dgm:pt>
    <dgm:pt modelId="{20D54671-E444-4F7E-B29B-CDC0A06258B2}" type="parTrans" cxnId="{8E015480-CDC5-44B8-A43F-27225FCA7B26}">
      <dgm:prSet/>
      <dgm:spPr/>
      <dgm:t>
        <a:bodyPr/>
        <a:lstStyle/>
        <a:p>
          <a:endParaRPr lang="en-IN"/>
        </a:p>
      </dgm:t>
    </dgm:pt>
    <dgm:pt modelId="{6CFC8816-D1EC-448F-A3BF-EDAC982C66BE}" type="pres">
      <dgm:prSet presAssocID="{FF42FC53-8223-44F4-A187-EEE430D41958}" presName="Name0" presStyleCnt="0">
        <dgm:presLayoutVars>
          <dgm:dir/>
          <dgm:resizeHandles val="exact"/>
        </dgm:presLayoutVars>
      </dgm:prSet>
      <dgm:spPr/>
    </dgm:pt>
    <dgm:pt modelId="{2F6CB967-CDD3-467A-8334-8C977D16D5E8}" type="pres">
      <dgm:prSet presAssocID="{E6EECC72-3BF0-4049-9580-F593D30C5A93}" presName="node" presStyleLbl="node1" presStyleIdx="0" presStyleCnt="6">
        <dgm:presLayoutVars>
          <dgm:bulletEnabled val="1"/>
        </dgm:presLayoutVars>
      </dgm:prSet>
      <dgm:spPr>
        <a:prstGeom prst="flowChartAlternateProcess">
          <a:avLst/>
        </a:prstGeom>
      </dgm:spPr>
    </dgm:pt>
    <dgm:pt modelId="{0FEB0B0C-202B-4701-A982-692DC6E2D4D5}" type="pres">
      <dgm:prSet presAssocID="{EF00BC93-FC85-46BD-8245-5A3AD40F19B9}" presName="sibTrans" presStyleLbl="sibTrans1D1" presStyleIdx="0" presStyleCnt="5"/>
      <dgm:spPr/>
    </dgm:pt>
    <dgm:pt modelId="{51EC4194-1E62-4DB1-9590-244DC8930F5E}" type="pres">
      <dgm:prSet presAssocID="{EF00BC93-FC85-46BD-8245-5A3AD40F19B9}" presName="connectorText" presStyleLbl="sibTrans1D1" presStyleIdx="0" presStyleCnt="5"/>
      <dgm:spPr/>
    </dgm:pt>
    <dgm:pt modelId="{31FD23A3-3987-450D-A7C7-D13AB8FEB7EE}" type="pres">
      <dgm:prSet presAssocID="{7E3D8226-135D-40A5-84B1-C9BF3769042B}" presName="node" presStyleLbl="node1" presStyleIdx="1" presStyleCnt="6">
        <dgm:presLayoutVars>
          <dgm:bulletEnabled val="1"/>
        </dgm:presLayoutVars>
      </dgm:prSet>
      <dgm:spPr>
        <a:prstGeom prst="flowChartAlternateProcess">
          <a:avLst/>
        </a:prstGeom>
      </dgm:spPr>
    </dgm:pt>
    <dgm:pt modelId="{A3905E5F-D1B9-4102-B311-89D931FA8B88}" type="pres">
      <dgm:prSet presAssocID="{89182828-5A40-4B7F-ACEB-D4807AFE68C1}" presName="sibTrans" presStyleLbl="sibTrans1D1" presStyleIdx="1" presStyleCnt="5"/>
      <dgm:spPr/>
    </dgm:pt>
    <dgm:pt modelId="{0258B500-F054-466C-9E51-12C28A3E2F54}" type="pres">
      <dgm:prSet presAssocID="{89182828-5A40-4B7F-ACEB-D4807AFE68C1}" presName="connectorText" presStyleLbl="sibTrans1D1" presStyleIdx="1" presStyleCnt="5"/>
      <dgm:spPr/>
    </dgm:pt>
    <dgm:pt modelId="{59C72C55-DDF0-4864-8B83-CACFFD103014}" type="pres">
      <dgm:prSet presAssocID="{2793897F-09A4-4954-8F01-17E627D79975}" presName="node" presStyleLbl="node1" presStyleIdx="2" presStyleCnt="6">
        <dgm:presLayoutVars>
          <dgm:bulletEnabled val="1"/>
        </dgm:presLayoutVars>
      </dgm:prSet>
      <dgm:spPr>
        <a:prstGeom prst="flowChartAlternateProcess">
          <a:avLst/>
        </a:prstGeom>
      </dgm:spPr>
    </dgm:pt>
    <dgm:pt modelId="{16749A66-1599-42FF-8C4F-619289FC878F}" type="pres">
      <dgm:prSet presAssocID="{4B4A300E-7ADA-4438-9482-B41DA21E1BA0}" presName="sibTrans" presStyleLbl="sibTrans1D1" presStyleIdx="2" presStyleCnt="5"/>
      <dgm:spPr/>
    </dgm:pt>
    <dgm:pt modelId="{06E7090E-02BA-462B-A4EE-7B4ED7CB5991}" type="pres">
      <dgm:prSet presAssocID="{4B4A300E-7ADA-4438-9482-B41DA21E1BA0}" presName="connectorText" presStyleLbl="sibTrans1D1" presStyleIdx="2" presStyleCnt="5"/>
      <dgm:spPr/>
    </dgm:pt>
    <dgm:pt modelId="{98C79134-23EF-479D-B766-D1C4AD2727CC}" type="pres">
      <dgm:prSet presAssocID="{4F0CE948-0297-4181-8996-14F50AAD2D50}" presName="node" presStyleLbl="node1" presStyleIdx="3" presStyleCnt="6">
        <dgm:presLayoutVars>
          <dgm:bulletEnabled val="1"/>
        </dgm:presLayoutVars>
      </dgm:prSet>
      <dgm:spPr>
        <a:prstGeom prst="flowChartAlternateProcess">
          <a:avLst/>
        </a:prstGeom>
      </dgm:spPr>
    </dgm:pt>
    <dgm:pt modelId="{6E8A0A4B-429C-4F46-B4B9-652FFFA87C48}" type="pres">
      <dgm:prSet presAssocID="{372C04F8-050E-49B4-A4F3-B0A98CA90D8A}" presName="sibTrans" presStyleLbl="sibTrans1D1" presStyleIdx="3" presStyleCnt="5"/>
      <dgm:spPr/>
    </dgm:pt>
    <dgm:pt modelId="{C60D6A4F-FEA3-46BE-96BE-726B1E28E7EC}" type="pres">
      <dgm:prSet presAssocID="{372C04F8-050E-49B4-A4F3-B0A98CA90D8A}" presName="connectorText" presStyleLbl="sibTrans1D1" presStyleIdx="3" presStyleCnt="5"/>
      <dgm:spPr/>
    </dgm:pt>
    <dgm:pt modelId="{ECC361B6-BE52-4525-A04D-3ADAA1E70F99}" type="pres">
      <dgm:prSet presAssocID="{1D9A2FD3-AFA8-4081-9BA5-634679D66ACB}" presName="node" presStyleLbl="node1" presStyleIdx="4" presStyleCnt="6">
        <dgm:presLayoutVars>
          <dgm:bulletEnabled val="1"/>
        </dgm:presLayoutVars>
      </dgm:prSet>
      <dgm:spPr>
        <a:prstGeom prst="flowChartAlternateProcess">
          <a:avLst/>
        </a:prstGeom>
      </dgm:spPr>
    </dgm:pt>
    <dgm:pt modelId="{A4C79605-CA23-4596-A30C-C1D9E7073421}" type="pres">
      <dgm:prSet presAssocID="{D8AEFD73-C0AA-4487-8278-39C9435ADF7E}" presName="sibTrans" presStyleLbl="sibTrans1D1" presStyleIdx="4" presStyleCnt="5"/>
      <dgm:spPr/>
    </dgm:pt>
    <dgm:pt modelId="{E4E7A395-78D5-4A0E-B59B-5F86244973B7}" type="pres">
      <dgm:prSet presAssocID="{D8AEFD73-C0AA-4487-8278-39C9435ADF7E}" presName="connectorText" presStyleLbl="sibTrans1D1" presStyleIdx="4" presStyleCnt="5"/>
      <dgm:spPr/>
    </dgm:pt>
    <dgm:pt modelId="{6A717AB1-1EB8-4470-82C4-B5F4454A964F}" type="pres">
      <dgm:prSet presAssocID="{0A267A8B-EAC8-48A8-8B23-7FCC5CB0F257}" presName="node" presStyleLbl="node1" presStyleIdx="5" presStyleCnt="6">
        <dgm:presLayoutVars>
          <dgm:bulletEnabled val="1"/>
        </dgm:presLayoutVars>
      </dgm:prSet>
      <dgm:spPr>
        <a:prstGeom prst="flowChartAlternateProcess">
          <a:avLst/>
        </a:prstGeom>
      </dgm:spPr>
    </dgm:pt>
  </dgm:ptLst>
  <dgm:cxnLst>
    <dgm:cxn modelId="{6DA10403-907B-41C4-91FD-4A1C195DAA98}" type="presOf" srcId="{4B4A300E-7ADA-4438-9482-B41DA21E1BA0}" destId="{06E7090E-02BA-462B-A4EE-7B4ED7CB5991}" srcOrd="1" destOrd="0" presId="urn:microsoft.com/office/officeart/2005/8/layout/bProcess3"/>
    <dgm:cxn modelId="{76311B19-282C-4681-9A96-78DE901D3C4B}" srcId="{FF42FC53-8223-44F4-A187-EEE430D41958}" destId="{1D9A2FD3-AFA8-4081-9BA5-634679D66ACB}" srcOrd="4" destOrd="0" parTransId="{FB7C902D-5ED6-49ED-985C-F6AE2006F3F2}" sibTransId="{D8AEFD73-C0AA-4487-8278-39C9435ADF7E}"/>
    <dgm:cxn modelId="{D72AC91B-C7EC-4C38-811B-58B90A87A08B}" type="presOf" srcId="{EF00BC93-FC85-46BD-8245-5A3AD40F19B9}" destId="{51EC4194-1E62-4DB1-9590-244DC8930F5E}" srcOrd="1" destOrd="0" presId="urn:microsoft.com/office/officeart/2005/8/layout/bProcess3"/>
    <dgm:cxn modelId="{D399FE2A-2EE9-4543-AD0D-AE8573273139}" srcId="{FF42FC53-8223-44F4-A187-EEE430D41958}" destId="{4F0CE948-0297-4181-8996-14F50AAD2D50}" srcOrd="3" destOrd="0" parTransId="{088C6CDA-1BC0-4FE2-8A35-83D1EA6236B2}" sibTransId="{372C04F8-050E-49B4-A4F3-B0A98CA90D8A}"/>
    <dgm:cxn modelId="{3F3F395E-BE1D-4934-89B1-147CB70709F3}" type="presOf" srcId="{D8AEFD73-C0AA-4487-8278-39C9435ADF7E}" destId="{E4E7A395-78D5-4A0E-B59B-5F86244973B7}" srcOrd="1" destOrd="0" presId="urn:microsoft.com/office/officeart/2005/8/layout/bProcess3"/>
    <dgm:cxn modelId="{0DA64C72-ACB3-4EAC-B05D-6AD4151CDAEB}" type="presOf" srcId="{89182828-5A40-4B7F-ACEB-D4807AFE68C1}" destId="{0258B500-F054-466C-9E51-12C28A3E2F54}" srcOrd="1" destOrd="0" presId="urn:microsoft.com/office/officeart/2005/8/layout/bProcess3"/>
    <dgm:cxn modelId="{8E015480-CDC5-44B8-A43F-27225FCA7B26}" srcId="{FF42FC53-8223-44F4-A187-EEE430D41958}" destId="{0A267A8B-EAC8-48A8-8B23-7FCC5CB0F257}" srcOrd="5" destOrd="0" parTransId="{20D54671-E444-4F7E-B29B-CDC0A06258B2}" sibTransId="{6535B553-034F-44D1-A0D4-BBEC5F0DF13D}"/>
    <dgm:cxn modelId="{12F5D883-AAB3-45F8-A377-5CCA31DCF12B}" srcId="{FF42FC53-8223-44F4-A187-EEE430D41958}" destId="{E6EECC72-3BF0-4049-9580-F593D30C5A93}" srcOrd="0" destOrd="0" parTransId="{373F0B13-0A24-43B1-BED5-1D1386BF3323}" sibTransId="{EF00BC93-FC85-46BD-8245-5A3AD40F19B9}"/>
    <dgm:cxn modelId="{FCF6188A-7BB6-45DB-B386-2938958C2526}" srcId="{FF42FC53-8223-44F4-A187-EEE430D41958}" destId="{7E3D8226-135D-40A5-84B1-C9BF3769042B}" srcOrd="1" destOrd="0" parTransId="{F0ECB518-D7FB-4C4A-861A-444CB41AD3A1}" sibTransId="{89182828-5A40-4B7F-ACEB-D4807AFE68C1}"/>
    <dgm:cxn modelId="{B625DB93-4CCE-4587-A59F-021D17376698}" type="presOf" srcId="{7E3D8226-135D-40A5-84B1-C9BF3769042B}" destId="{31FD23A3-3987-450D-A7C7-D13AB8FEB7EE}" srcOrd="0" destOrd="0" presId="urn:microsoft.com/office/officeart/2005/8/layout/bProcess3"/>
    <dgm:cxn modelId="{7CCCD8A5-62E7-46E8-A55F-2F1B6163C74A}" type="presOf" srcId="{EF00BC93-FC85-46BD-8245-5A3AD40F19B9}" destId="{0FEB0B0C-202B-4701-A982-692DC6E2D4D5}" srcOrd="0" destOrd="0" presId="urn:microsoft.com/office/officeart/2005/8/layout/bProcess3"/>
    <dgm:cxn modelId="{76FDC7B2-7B7B-41FB-9EEC-058E102A8CCC}" type="presOf" srcId="{372C04F8-050E-49B4-A4F3-B0A98CA90D8A}" destId="{C60D6A4F-FEA3-46BE-96BE-726B1E28E7EC}" srcOrd="1" destOrd="0" presId="urn:microsoft.com/office/officeart/2005/8/layout/bProcess3"/>
    <dgm:cxn modelId="{43DB6BB3-CC9D-4260-A857-09F8076040B2}" type="presOf" srcId="{372C04F8-050E-49B4-A4F3-B0A98CA90D8A}" destId="{6E8A0A4B-429C-4F46-B4B9-652FFFA87C48}" srcOrd="0" destOrd="0" presId="urn:microsoft.com/office/officeart/2005/8/layout/bProcess3"/>
    <dgm:cxn modelId="{99192AB5-8DE7-431E-A716-0DE35435C683}" type="presOf" srcId="{4F0CE948-0297-4181-8996-14F50AAD2D50}" destId="{98C79134-23EF-479D-B766-D1C4AD2727CC}" srcOrd="0" destOrd="0" presId="urn:microsoft.com/office/officeart/2005/8/layout/bProcess3"/>
    <dgm:cxn modelId="{B51F6AB8-9E59-4A0F-AB14-E57A332E25DC}" type="presOf" srcId="{E6EECC72-3BF0-4049-9580-F593D30C5A93}" destId="{2F6CB967-CDD3-467A-8334-8C977D16D5E8}" srcOrd="0" destOrd="0" presId="urn:microsoft.com/office/officeart/2005/8/layout/bProcess3"/>
    <dgm:cxn modelId="{7895A1B8-844A-4986-880D-4217D5E0DB38}" type="presOf" srcId="{0A267A8B-EAC8-48A8-8B23-7FCC5CB0F257}" destId="{6A717AB1-1EB8-4470-82C4-B5F4454A964F}" srcOrd="0" destOrd="0" presId="urn:microsoft.com/office/officeart/2005/8/layout/bProcess3"/>
    <dgm:cxn modelId="{7EDACBBC-C65E-481E-96C2-76B4DD6ECA37}" type="presOf" srcId="{FF42FC53-8223-44F4-A187-EEE430D41958}" destId="{6CFC8816-D1EC-448F-A3BF-EDAC982C66BE}" srcOrd="0" destOrd="0" presId="urn:microsoft.com/office/officeart/2005/8/layout/bProcess3"/>
    <dgm:cxn modelId="{7C57F6BF-B8B2-477B-8C85-4FD05A22E8BE}" type="presOf" srcId="{1D9A2FD3-AFA8-4081-9BA5-634679D66ACB}" destId="{ECC361B6-BE52-4525-A04D-3ADAA1E70F99}" srcOrd="0" destOrd="0" presId="urn:microsoft.com/office/officeart/2005/8/layout/bProcess3"/>
    <dgm:cxn modelId="{905A82C3-241A-4969-9816-42002A1DACB4}" type="presOf" srcId="{4B4A300E-7ADA-4438-9482-B41DA21E1BA0}" destId="{16749A66-1599-42FF-8C4F-619289FC878F}" srcOrd="0" destOrd="0" presId="urn:microsoft.com/office/officeart/2005/8/layout/bProcess3"/>
    <dgm:cxn modelId="{010E57C8-4E06-4375-ABB5-19FEA61E42D4}" srcId="{FF42FC53-8223-44F4-A187-EEE430D41958}" destId="{2793897F-09A4-4954-8F01-17E627D79975}" srcOrd="2" destOrd="0" parTransId="{07E4112B-75E2-43F4-A51A-CA27BB06B717}" sibTransId="{4B4A300E-7ADA-4438-9482-B41DA21E1BA0}"/>
    <dgm:cxn modelId="{191014C9-EDBC-4A0E-9BE3-E841AF14E52D}" type="presOf" srcId="{89182828-5A40-4B7F-ACEB-D4807AFE68C1}" destId="{A3905E5F-D1B9-4102-B311-89D931FA8B88}" srcOrd="0" destOrd="0" presId="urn:microsoft.com/office/officeart/2005/8/layout/bProcess3"/>
    <dgm:cxn modelId="{B25BD6CC-F1AA-4339-8039-ECF373AFBFA5}" type="presOf" srcId="{D8AEFD73-C0AA-4487-8278-39C9435ADF7E}" destId="{A4C79605-CA23-4596-A30C-C1D9E7073421}" srcOrd="0" destOrd="0" presId="urn:microsoft.com/office/officeart/2005/8/layout/bProcess3"/>
    <dgm:cxn modelId="{43E192F2-BBE3-49FC-89FA-721720E2C313}" type="presOf" srcId="{2793897F-09A4-4954-8F01-17E627D79975}" destId="{59C72C55-DDF0-4864-8B83-CACFFD103014}" srcOrd="0" destOrd="0" presId="urn:microsoft.com/office/officeart/2005/8/layout/bProcess3"/>
    <dgm:cxn modelId="{AF66CAF8-DB04-4713-B152-27157B1DA757}" type="presParOf" srcId="{6CFC8816-D1EC-448F-A3BF-EDAC982C66BE}" destId="{2F6CB967-CDD3-467A-8334-8C977D16D5E8}" srcOrd="0" destOrd="0" presId="urn:microsoft.com/office/officeart/2005/8/layout/bProcess3"/>
    <dgm:cxn modelId="{DD92D345-CB12-4CE5-8ADE-4B7FCED90C0D}" type="presParOf" srcId="{6CFC8816-D1EC-448F-A3BF-EDAC982C66BE}" destId="{0FEB0B0C-202B-4701-A982-692DC6E2D4D5}" srcOrd="1" destOrd="0" presId="urn:microsoft.com/office/officeart/2005/8/layout/bProcess3"/>
    <dgm:cxn modelId="{9F01812B-92E6-433A-8651-7B6D515DFDBB}" type="presParOf" srcId="{0FEB0B0C-202B-4701-A982-692DC6E2D4D5}" destId="{51EC4194-1E62-4DB1-9590-244DC8930F5E}" srcOrd="0" destOrd="0" presId="urn:microsoft.com/office/officeart/2005/8/layout/bProcess3"/>
    <dgm:cxn modelId="{73015609-D114-4BE8-BC85-FC9F4C7B5AA7}" type="presParOf" srcId="{6CFC8816-D1EC-448F-A3BF-EDAC982C66BE}" destId="{31FD23A3-3987-450D-A7C7-D13AB8FEB7EE}" srcOrd="2" destOrd="0" presId="urn:microsoft.com/office/officeart/2005/8/layout/bProcess3"/>
    <dgm:cxn modelId="{F4CEDBF1-BCDD-40BC-B7A7-BBB74E184082}" type="presParOf" srcId="{6CFC8816-D1EC-448F-A3BF-EDAC982C66BE}" destId="{A3905E5F-D1B9-4102-B311-89D931FA8B88}" srcOrd="3" destOrd="0" presId="urn:microsoft.com/office/officeart/2005/8/layout/bProcess3"/>
    <dgm:cxn modelId="{4D02DA65-6617-41A1-859F-87FD5E579EB2}" type="presParOf" srcId="{A3905E5F-D1B9-4102-B311-89D931FA8B88}" destId="{0258B500-F054-466C-9E51-12C28A3E2F54}" srcOrd="0" destOrd="0" presId="urn:microsoft.com/office/officeart/2005/8/layout/bProcess3"/>
    <dgm:cxn modelId="{81073751-318B-44E3-A0A1-47227AD90D47}" type="presParOf" srcId="{6CFC8816-D1EC-448F-A3BF-EDAC982C66BE}" destId="{59C72C55-DDF0-4864-8B83-CACFFD103014}" srcOrd="4" destOrd="0" presId="urn:microsoft.com/office/officeart/2005/8/layout/bProcess3"/>
    <dgm:cxn modelId="{31DF6DDB-7C57-425A-9319-C582B16895B2}" type="presParOf" srcId="{6CFC8816-D1EC-448F-A3BF-EDAC982C66BE}" destId="{16749A66-1599-42FF-8C4F-619289FC878F}" srcOrd="5" destOrd="0" presId="urn:microsoft.com/office/officeart/2005/8/layout/bProcess3"/>
    <dgm:cxn modelId="{D8ABE7C2-965F-475B-B3C2-C140A7637C61}" type="presParOf" srcId="{16749A66-1599-42FF-8C4F-619289FC878F}" destId="{06E7090E-02BA-462B-A4EE-7B4ED7CB5991}" srcOrd="0" destOrd="0" presId="urn:microsoft.com/office/officeart/2005/8/layout/bProcess3"/>
    <dgm:cxn modelId="{4CBAB673-29F4-4941-AAB1-518EE426A271}" type="presParOf" srcId="{6CFC8816-D1EC-448F-A3BF-EDAC982C66BE}" destId="{98C79134-23EF-479D-B766-D1C4AD2727CC}" srcOrd="6" destOrd="0" presId="urn:microsoft.com/office/officeart/2005/8/layout/bProcess3"/>
    <dgm:cxn modelId="{3662CD46-EBD5-404E-AA2F-878FF9757117}" type="presParOf" srcId="{6CFC8816-D1EC-448F-A3BF-EDAC982C66BE}" destId="{6E8A0A4B-429C-4F46-B4B9-652FFFA87C48}" srcOrd="7" destOrd="0" presId="urn:microsoft.com/office/officeart/2005/8/layout/bProcess3"/>
    <dgm:cxn modelId="{D4D4C372-4640-4D95-92A6-D2263E326FF6}" type="presParOf" srcId="{6E8A0A4B-429C-4F46-B4B9-652FFFA87C48}" destId="{C60D6A4F-FEA3-46BE-96BE-726B1E28E7EC}" srcOrd="0" destOrd="0" presId="urn:microsoft.com/office/officeart/2005/8/layout/bProcess3"/>
    <dgm:cxn modelId="{3279AEB9-E87D-439A-811F-1E04B85CF572}" type="presParOf" srcId="{6CFC8816-D1EC-448F-A3BF-EDAC982C66BE}" destId="{ECC361B6-BE52-4525-A04D-3ADAA1E70F99}" srcOrd="8" destOrd="0" presId="urn:microsoft.com/office/officeart/2005/8/layout/bProcess3"/>
    <dgm:cxn modelId="{7D3E6160-059E-4B88-B38D-5435C4015182}" type="presParOf" srcId="{6CFC8816-D1EC-448F-A3BF-EDAC982C66BE}" destId="{A4C79605-CA23-4596-A30C-C1D9E7073421}" srcOrd="9" destOrd="0" presId="urn:microsoft.com/office/officeart/2005/8/layout/bProcess3"/>
    <dgm:cxn modelId="{85C17D2F-079E-438D-8732-93F65CF39828}" type="presParOf" srcId="{A4C79605-CA23-4596-A30C-C1D9E7073421}" destId="{E4E7A395-78D5-4A0E-B59B-5F86244973B7}" srcOrd="0" destOrd="0" presId="urn:microsoft.com/office/officeart/2005/8/layout/bProcess3"/>
    <dgm:cxn modelId="{140C039E-B9F4-487D-AA76-939ABF063759}" type="presParOf" srcId="{6CFC8816-D1EC-448F-A3BF-EDAC982C66BE}" destId="{6A717AB1-1EB8-4470-82C4-B5F4454A964F}"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EB0B0C-202B-4701-A982-692DC6E2D4D5}">
      <dsp:nvSpPr>
        <dsp:cNvPr id="0" name=""/>
        <dsp:cNvSpPr/>
      </dsp:nvSpPr>
      <dsp:spPr>
        <a:xfrm>
          <a:off x="2897903" y="943831"/>
          <a:ext cx="634564" cy="91440"/>
        </a:xfrm>
        <a:custGeom>
          <a:avLst/>
          <a:gdLst/>
          <a:ahLst/>
          <a:cxnLst/>
          <a:rect l="0" t="0" r="0" b="0"/>
          <a:pathLst>
            <a:path>
              <a:moveTo>
                <a:pt x="0" y="45720"/>
              </a:moveTo>
              <a:lnTo>
                <a:pt x="634564"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198557" y="986225"/>
        <a:ext cx="33258" cy="6651"/>
      </dsp:txXfrm>
    </dsp:sp>
    <dsp:sp modelId="{2F6CB967-CDD3-467A-8334-8C977D16D5E8}">
      <dsp:nvSpPr>
        <dsp:cNvPr id="0" name=""/>
        <dsp:cNvSpPr/>
      </dsp:nvSpPr>
      <dsp:spPr>
        <a:xfrm>
          <a:off x="7682" y="121945"/>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User Authentication:</a:t>
          </a:r>
        </a:p>
        <a:p>
          <a:pPr marL="0" lvl="0" indent="0" algn="ctr" defTabSz="800100">
            <a:lnSpc>
              <a:spcPct val="90000"/>
            </a:lnSpc>
            <a:spcBef>
              <a:spcPct val="0"/>
            </a:spcBef>
            <a:spcAft>
              <a:spcPct val="35000"/>
            </a:spcAft>
            <a:buNone/>
          </a:pPr>
          <a:r>
            <a:rPr lang="en-US" sz="1800" kern="1200">
              <a:solidFill>
                <a:srgbClr val="4A4A45"/>
              </a:solidFill>
              <a:latin typeface="Lato"/>
              <a:ea typeface="Lato"/>
              <a:cs typeface="Lato"/>
            </a:rPr>
            <a:t>Secure login through </a:t>
          </a:r>
          <a:r>
            <a:rPr lang="en-US" sz="1800" kern="1200" err="1">
              <a:solidFill>
                <a:srgbClr val="4A4A45"/>
              </a:solidFill>
              <a:latin typeface="Lato"/>
              <a:ea typeface="Lato"/>
              <a:cs typeface="Lato"/>
            </a:rPr>
            <a:t>SupaBase</a:t>
          </a:r>
          <a:r>
            <a:rPr lang="en-US" sz="1800" kern="1200">
              <a:solidFill>
                <a:srgbClr val="4A4A45"/>
              </a:solidFill>
              <a:latin typeface="Lato"/>
              <a:ea typeface="Lato"/>
              <a:cs typeface="Lato"/>
            </a:rPr>
            <a:t>.</a:t>
          </a:r>
          <a:endParaRPr lang="en-IN" sz="1800" kern="1200">
            <a:solidFill>
              <a:schemeClr val="bg1"/>
            </a:solidFill>
            <a:latin typeface="Lato"/>
            <a:ea typeface="Lato"/>
            <a:cs typeface="Lato"/>
          </a:endParaRPr>
        </a:p>
      </dsp:txBody>
      <dsp:txXfrm>
        <a:off x="92386" y="206649"/>
        <a:ext cx="2722613" cy="1565804"/>
      </dsp:txXfrm>
    </dsp:sp>
    <dsp:sp modelId="{A3905E5F-D1B9-4102-B311-89D931FA8B88}">
      <dsp:nvSpPr>
        <dsp:cNvPr id="0" name=""/>
        <dsp:cNvSpPr/>
      </dsp:nvSpPr>
      <dsp:spPr>
        <a:xfrm>
          <a:off x="6455090" y="943831"/>
          <a:ext cx="634564" cy="91440"/>
        </a:xfrm>
        <a:custGeom>
          <a:avLst/>
          <a:gdLst/>
          <a:ahLst/>
          <a:cxnLst/>
          <a:rect l="0" t="0" r="0" b="0"/>
          <a:pathLst>
            <a:path>
              <a:moveTo>
                <a:pt x="0" y="45720"/>
              </a:moveTo>
              <a:lnTo>
                <a:pt x="634564"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755743" y="986225"/>
        <a:ext cx="33258" cy="6651"/>
      </dsp:txXfrm>
    </dsp:sp>
    <dsp:sp modelId="{31FD23A3-3987-450D-A7C7-D13AB8FEB7EE}">
      <dsp:nvSpPr>
        <dsp:cNvPr id="0" name=""/>
        <dsp:cNvSpPr/>
      </dsp:nvSpPr>
      <dsp:spPr>
        <a:xfrm>
          <a:off x="3564868" y="121945"/>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Document Upload:</a:t>
          </a:r>
        </a:p>
        <a:p>
          <a:pPr marL="0" lvl="0" indent="0" algn="ctr" defTabSz="800100" rtl="0">
            <a:lnSpc>
              <a:spcPct val="90000"/>
            </a:lnSpc>
            <a:spcBef>
              <a:spcPct val="0"/>
            </a:spcBef>
            <a:spcAft>
              <a:spcPct val="35000"/>
            </a:spcAft>
            <a:buNone/>
          </a:pPr>
          <a:r>
            <a:rPr lang="en-US" sz="1800" kern="1200">
              <a:solidFill>
                <a:srgbClr val="4A4A45"/>
              </a:solidFill>
              <a:latin typeface="Lato"/>
              <a:ea typeface="Lato"/>
              <a:cs typeface="Lato"/>
            </a:rPr>
            <a:t>Users upload PDFs or Images (Aadhaar, PAN, etc.).</a:t>
          </a:r>
          <a:endParaRPr lang="en-IN" sz="1800" kern="1200">
            <a:solidFill>
              <a:schemeClr val="bg1"/>
            </a:solidFill>
            <a:latin typeface="Lato"/>
            <a:ea typeface="Lato"/>
            <a:cs typeface="Lato"/>
          </a:endParaRPr>
        </a:p>
      </dsp:txBody>
      <dsp:txXfrm>
        <a:off x="3649572" y="206649"/>
        <a:ext cx="2722613" cy="1565804"/>
      </dsp:txXfrm>
    </dsp:sp>
    <dsp:sp modelId="{16749A66-1599-42FF-8C4F-619289FC878F}">
      <dsp:nvSpPr>
        <dsp:cNvPr id="0" name=""/>
        <dsp:cNvSpPr/>
      </dsp:nvSpPr>
      <dsp:spPr>
        <a:xfrm>
          <a:off x="1453693" y="1855358"/>
          <a:ext cx="7114372" cy="634564"/>
        </a:xfrm>
        <a:custGeom>
          <a:avLst/>
          <a:gdLst/>
          <a:ahLst/>
          <a:cxnLst/>
          <a:rect l="0" t="0" r="0" b="0"/>
          <a:pathLst>
            <a:path>
              <a:moveTo>
                <a:pt x="7114372" y="0"/>
              </a:moveTo>
              <a:lnTo>
                <a:pt x="7114372" y="334382"/>
              </a:lnTo>
              <a:lnTo>
                <a:pt x="0" y="334382"/>
              </a:lnTo>
              <a:lnTo>
                <a:pt x="0" y="634564"/>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832244" y="2169314"/>
        <a:ext cx="357269" cy="6651"/>
      </dsp:txXfrm>
    </dsp:sp>
    <dsp:sp modelId="{59C72C55-DDF0-4864-8B83-CACFFD103014}">
      <dsp:nvSpPr>
        <dsp:cNvPr id="0" name=""/>
        <dsp:cNvSpPr/>
      </dsp:nvSpPr>
      <dsp:spPr>
        <a:xfrm>
          <a:off x="7122055" y="121945"/>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OCR Extraction:</a:t>
          </a:r>
        </a:p>
        <a:p>
          <a:pPr marL="0" lvl="0" indent="0" algn="ctr" defTabSz="800100">
            <a:lnSpc>
              <a:spcPct val="90000"/>
            </a:lnSpc>
            <a:spcBef>
              <a:spcPct val="0"/>
            </a:spcBef>
            <a:spcAft>
              <a:spcPct val="35000"/>
            </a:spcAft>
            <a:buNone/>
          </a:pPr>
          <a:r>
            <a:rPr lang="en-US" sz="1800" kern="1200">
              <a:solidFill>
                <a:srgbClr val="4A4A45"/>
              </a:solidFill>
              <a:latin typeface="Lato"/>
              <a:ea typeface="Lato"/>
              <a:cs typeface="Lato"/>
            </a:rPr>
            <a:t>Raw text is pulled from documents via </a:t>
          </a:r>
          <a:r>
            <a:rPr lang="en-US" sz="1800" u="sng" kern="1200">
              <a:solidFill>
                <a:srgbClr val="282824"/>
              </a:solidFill>
              <a:latin typeface="Lato"/>
              <a:ea typeface="Lato"/>
              <a:cs typeface="Lato"/>
              <a:hlinkClick xmlns:r="http://schemas.openxmlformats.org/officeDocument/2006/relationships" r:id="rId1">
                <a:extLst>
                  <a:ext uri="{A12FA001-AC4F-418D-AE19-62706E023703}">
                    <ahyp:hlinkClr xmlns:ahyp="http://schemas.microsoft.com/office/drawing/2018/hyperlinkcolor" val="tx"/>
                  </a:ext>
                </a:extLst>
              </a:hlinkClick>
            </a:rPr>
            <a:t>OCR.space</a:t>
          </a:r>
          <a:r>
            <a:rPr lang="en-US" sz="1800" kern="1200">
              <a:solidFill>
                <a:srgbClr val="4A4A45"/>
              </a:solidFill>
              <a:latin typeface="Lato"/>
              <a:ea typeface="Lato"/>
              <a:cs typeface="Lato"/>
            </a:rPr>
            <a:t> API.</a:t>
          </a:r>
          <a:endParaRPr lang="en-IN" sz="1800" kern="1200">
            <a:solidFill>
              <a:schemeClr val="bg1"/>
            </a:solidFill>
            <a:latin typeface="Lato"/>
            <a:ea typeface="Lato"/>
            <a:cs typeface="Lato"/>
          </a:endParaRPr>
        </a:p>
      </dsp:txBody>
      <dsp:txXfrm>
        <a:off x="7206759" y="206649"/>
        <a:ext cx="2722613" cy="1565804"/>
      </dsp:txXfrm>
    </dsp:sp>
    <dsp:sp modelId="{6E8A0A4B-429C-4F46-B4B9-652FFFA87C48}">
      <dsp:nvSpPr>
        <dsp:cNvPr id="0" name=""/>
        <dsp:cNvSpPr/>
      </dsp:nvSpPr>
      <dsp:spPr>
        <a:xfrm>
          <a:off x="2897903" y="3344209"/>
          <a:ext cx="634564" cy="91440"/>
        </a:xfrm>
        <a:custGeom>
          <a:avLst/>
          <a:gdLst/>
          <a:ahLst/>
          <a:cxnLst/>
          <a:rect l="0" t="0" r="0" b="0"/>
          <a:pathLst>
            <a:path>
              <a:moveTo>
                <a:pt x="0" y="45720"/>
              </a:moveTo>
              <a:lnTo>
                <a:pt x="634564"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198557" y="3386603"/>
        <a:ext cx="33258" cy="6651"/>
      </dsp:txXfrm>
    </dsp:sp>
    <dsp:sp modelId="{98C79134-23EF-479D-B766-D1C4AD2727CC}">
      <dsp:nvSpPr>
        <dsp:cNvPr id="0" name=""/>
        <dsp:cNvSpPr/>
      </dsp:nvSpPr>
      <dsp:spPr>
        <a:xfrm>
          <a:off x="7682" y="2522322"/>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AI Mapping:</a:t>
          </a:r>
        </a:p>
        <a:p>
          <a:pPr marL="0" lvl="0" indent="0" algn="ctr" defTabSz="800100">
            <a:lnSpc>
              <a:spcPct val="90000"/>
            </a:lnSpc>
            <a:spcBef>
              <a:spcPct val="0"/>
            </a:spcBef>
            <a:spcAft>
              <a:spcPct val="35000"/>
            </a:spcAft>
            <a:buNone/>
          </a:pPr>
          <a:r>
            <a:rPr lang="en-US" sz="1800" kern="1200" err="1">
              <a:solidFill>
                <a:srgbClr val="4A4A45"/>
              </a:solidFill>
              <a:latin typeface="Lato"/>
              <a:ea typeface="Lato"/>
              <a:cs typeface="Lato"/>
            </a:rPr>
            <a:t>Groq</a:t>
          </a:r>
          <a:r>
            <a:rPr lang="en-US" sz="1800" kern="1200">
              <a:solidFill>
                <a:srgbClr val="4A4A45"/>
              </a:solidFill>
              <a:latin typeface="Lato"/>
              <a:ea typeface="Lato"/>
              <a:cs typeface="Lato"/>
            </a:rPr>
            <a:t> AI converts unstructured text into specific form fields.</a:t>
          </a:r>
          <a:endParaRPr lang="en-IN" sz="1800" b="1" u="sng" kern="1200">
            <a:solidFill>
              <a:schemeClr val="tx1">
                <a:lumMod val="65000"/>
                <a:lumOff val="35000"/>
              </a:schemeClr>
            </a:solidFill>
            <a:latin typeface="Lato"/>
            <a:ea typeface="Lato"/>
            <a:cs typeface="Lato"/>
          </a:endParaRPr>
        </a:p>
      </dsp:txBody>
      <dsp:txXfrm>
        <a:off x="92386" y="2607026"/>
        <a:ext cx="2722613" cy="1565804"/>
      </dsp:txXfrm>
    </dsp:sp>
    <dsp:sp modelId="{A4C79605-CA23-4596-A30C-C1D9E7073421}">
      <dsp:nvSpPr>
        <dsp:cNvPr id="0" name=""/>
        <dsp:cNvSpPr/>
      </dsp:nvSpPr>
      <dsp:spPr>
        <a:xfrm>
          <a:off x="6455090" y="3344209"/>
          <a:ext cx="634564" cy="91440"/>
        </a:xfrm>
        <a:custGeom>
          <a:avLst/>
          <a:gdLst/>
          <a:ahLst/>
          <a:cxnLst/>
          <a:rect l="0" t="0" r="0" b="0"/>
          <a:pathLst>
            <a:path>
              <a:moveTo>
                <a:pt x="0" y="45720"/>
              </a:moveTo>
              <a:lnTo>
                <a:pt x="634564"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755743" y="3386603"/>
        <a:ext cx="33258" cy="6651"/>
      </dsp:txXfrm>
    </dsp:sp>
    <dsp:sp modelId="{ECC361B6-BE52-4525-A04D-3ADAA1E70F99}">
      <dsp:nvSpPr>
        <dsp:cNvPr id="0" name=""/>
        <dsp:cNvSpPr/>
      </dsp:nvSpPr>
      <dsp:spPr>
        <a:xfrm>
          <a:off x="3564868" y="2522322"/>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Review &amp; Edit:</a:t>
          </a:r>
        </a:p>
        <a:p>
          <a:pPr marL="0" lvl="0" indent="0" algn="ctr" defTabSz="800100">
            <a:lnSpc>
              <a:spcPct val="90000"/>
            </a:lnSpc>
            <a:spcBef>
              <a:spcPct val="0"/>
            </a:spcBef>
            <a:spcAft>
              <a:spcPct val="35000"/>
            </a:spcAft>
            <a:buNone/>
          </a:pPr>
          <a:r>
            <a:rPr lang="en-US" sz="1800" kern="1200">
              <a:solidFill>
                <a:srgbClr val="4A4A45"/>
              </a:solidFill>
              <a:latin typeface="Lato"/>
              <a:ea typeface="Lato"/>
              <a:cs typeface="Lato"/>
            </a:rPr>
            <a:t>Users can manually verify and correct data before final submission.</a:t>
          </a:r>
          <a:endParaRPr lang="en-IN" sz="1800" u="sng" kern="1200">
            <a:solidFill>
              <a:schemeClr val="tx1">
                <a:lumMod val="65000"/>
                <a:lumOff val="35000"/>
              </a:schemeClr>
            </a:solidFill>
            <a:latin typeface="Lato"/>
            <a:ea typeface="Lato"/>
            <a:cs typeface="Lato"/>
          </a:endParaRPr>
        </a:p>
      </dsp:txBody>
      <dsp:txXfrm>
        <a:off x="3649572" y="2607026"/>
        <a:ext cx="2722613" cy="1565804"/>
      </dsp:txXfrm>
    </dsp:sp>
    <dsp:sp modelId="{6A717AB1-1EB8-4470-82C4-B5F4454A964F}">
      <dsp:nvSpPr>
        <dsp:cNvPr id="0" name=""/>
        <dsp:cNvSpPr/>
      </dsp:nvSpPr>
      <dsp:spPr>
        <a:xfrm>
          <a:off x="7122055" y="2522322"/>
          <a:ext cx="2892021" cy="1735212"/>
        </a:xfrm>
        <a:prstGeom prst="flowChartAlternateProcess">
          <a:avLst/>
        </a:prstGeom>
        <a:solidFill>
          <a:schemeClr val="accent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u="sng" kern="1200">
              <a:solidFill>
                <a:schemeClr val="tx1">
                  <a:lumMod val="65000"/>
                  <a:lumOff val="35000"/>
                </a:schemeClr>
              </a:solidFill>
              <a:latin typeface="Lato Bold"/>
              <a:ea typeface="Lato Bold"/>
              <a:cs typeface="Lato Bold"/>
            </a:rPr>
            <a:t>Submission:</a:t>
          </a:r>
        </a:p>
        <a:p>
          <a:pPr marL="0" lvl="0" indent="0" algn="ctr" defTabSz="800100">
            <a:lnSpc>
              <a:spcPct val="90000"/>
            </a:lnSpc>
            <a:spcBef>
              <a:spcPct val="0"/>
            </a:spcBef>
            <a:spcAft>
              <a:spcPct val="35000"/>
            </a:spcAft>
            <a:buNone/>
          </a:pPr>
          <a:r>
            <a:rPr lang="en-US" sz="1800" kern="1200">
              <a:solidFill>
                <a:srgbClr val="4A4A45"/>
              </a:solidFill>
              <a:latin typeface="Lato"/>
              <a:ea typeface="Lato"/>
              <a:cs typeface="Lato"/>
            </a:rPr>
            <a:t>Forms are submitted and can be downloaded as a PDF for offline use.</a:t>
          </a:r>
          <a:endParaRPr lang="en-IN" sz="1800" u="sng" kern="1200">
            <a:solidFill>
              <a:schemeClr val="tx1">
                <a:lumMod val="65000"/>
                <a:lumOff val="35000"/>
              </a:schemeClr>
            </a:solidFill>
            <a:latin typeface="Lato"/>
            <a:ea typeface="Lato"/>
            <a:cs typeface="Lato"/>
          </a:endParaRPr>
        </a:p>
      </dsp:txBody>
      <dsp:txXfrm>
        <a:off x="7206759" y="2607026"/>
        <a:ext cx="2722613" cy="1565804"/>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BACE8-1C44-4978-9110-6EDE1F68D847}" type="datetimeFigureOut">
              <a:rPr lang="en-IN" smtClean="0"/>
              <a:t>05-01-2026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7FB60A-89F9-44B9-9775-09665DDC4ABC}" type="slidenum">
              <a:rPr lang="en-IN" smtClean="0"/>
              <a:t>‹#›</a:t>
            </a:fld>
            <a:endParaRPr lang="en-IN"/>
          </a:p>
        </p:txBody>
      </p:sp>
    </p:spTree>
    <p:extLst>
      <p:ext uri="{BB962C8B-B14F-4D97-AF65-F5344CB8AC3E}">
        <p14:creationId xmlns:p14="http://schemas.microsoft.com/office/powerpoint/2010/main" val="3133829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E7FB60A-89F9-44B9-9775-09665DDC4ABC}" type="slidenum">
              <a:rPr lang="en-IN" smtClean="0"/>
              <a:t>6</a:t>
            </a:fld>
            <a:endParaRPr lang="en-IN"/>
          </a:p>
        </p:txBody>
      </p:sp>
    </p:spTree>
    <p:extLst>
      <p:ext uri="{BB962C8B-B14F-4D97-AF65-F5344CB8AC3E}">
        <p14:creationId xmlns:p14="http://schemas.microsoft.com/office/powerpoint/2010/main" val="2228288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402F6-EEE3-3A2A-B776-449E4B961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E9636A-86EA-818F-AE15-15F554D33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E66ED-A8A8-EEE1-0EDE-98497F5F8F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5C1071-01D2-0224-45B7-537139BD59C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22847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A069CB8-F204-4D06-B913-C5A26A89888A}" type="datetimeFigureOut">
              <a:rPr lang="en-US" dirty="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439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0BB376-B19C-488D-ABEB-03C7E6E9E3E0}" type="datetimeFigureOut">
              <a:rPr lang="en-US" dirty="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9637A9-119A-49DA-BD12-AAC58B377D80}" type="slidenum">
              <a:rPr lang="en-US" dirty="0"/>
              <a:t>‹#›</a:t>
            </a:fld>
            <a:endParaRPr lang="en-US"/>
          </a:p>
        </p:txBody>
      </p:sp>
    </p:spTree>
    <p:extLst>
      <p:ext uri="{BB962C8B-B14F-4D97-AF65-F5344CB8AC3E}">
        <p14:creationId xmlns:p14="http://schemas.microsoft.com/office/powerpoint/2010/main" val="2129951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6F077B-A50F-4D64-8574-E2D6A98A5553}" type="datetimeFigureOut">
              <a:rPr lang="en-US" dirty="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326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D9E2A62-1983-43A1-A163-D8AA46534C80}" type="datetimeFigureOut">
              <a:rPr lang="en-US" dirty="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641551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8F3E3B-34E3-4345-B2A1-994B83598A9C}" type="datetimeFigureOut">
              <a:rPr lang="en-US" dirty="0"/>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2469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816C96-82A1-4D77-8ADA-627AC6FE3D65}" type="datetimeFigureOut">
              <a:rPr lang="en-US" dirty="0"/>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057163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102C1E-28F2-47E9-802D-339E64E2F920}" type="datetimeFigureOut">
              <a:rPr lang="en-US" dirty="0"/>
              <a:t>1/5/2026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999327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4271A48-F18A-45B3-BC05-1E27DA3F88AF}" type="datetimeFigureOut">
              <a:rPr lang="en-US" dirty="0"/>
              <a:t>1/5/2026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02230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B747F8-9654-4282-85D2-65F41AAE7A75}" type="datetimeFigureOut">
              <a:rPr lang="en-US" dirty="0"/>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275041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6E300-0A13-4A81-945A-7333C271A069}" type="datetimeFigureOut">
              <a:rPr lang="en-US" dirty="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60801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671962-1EA4-46E7-BCB0-F36CE46D1A59}" type="datetimeFigureOut">
              <a:rPr lang="en-US" dirty="0"/>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478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DD6CC"/>
          </a:solidFill>
          <a:ln/>
        </p:spPr>
      </p:sp>
      <p:sp>
        <p:nvSpPr>
          <p:cNvPr id="3" name="Shape 1"/>
          <p:cNvSpPr/>
          <p:nvPr/>
        </p:nvSpPr>
        <p:spPr>
          <a:xfrm>
            <a:off x="0" y="0"/>
            <a:ext cx="12192000"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2612750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DD6CC"/>
          </a:solidFill>
          <a:ln/>
        </p:spPr>
      </p:sp>
      <p:sp>
        <p:nvSpPr>
          <p:cNvPr id="3" name="Shape 1"/>
          <p:cNvSpPr/>
          <p:nvPr/>
        </p:nvSpPr>
        <p:spPr>
          <a:xfrm>
            <a:off x="0" y="0"/>
            <a:ext cx="12192000"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020012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DD6CC"/>
          </a:solidFill>
          <a:ln/>
        </p:spPr>
      </p:sp>
      <p:sp>
        <p:nvSpPr>
          <p:cNvPr id="3" name="Shape 1"/>
          <p:cNvSpPr/>
          <p:nvPr/>
        </p:nvSpPr>
        <p:spPr>
          <a:xfrm>
            <a:off x="0" y="0"/>
            <a:ext cx="12192000"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9657488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DD6CC"/>
          </a:solidFill>
          <a:ln/>
        </p:spPr>
      </p:sp>
      <p:sp>
        <p:nvSpPr>
          <p:cNvPr id="3" name="Shape 1"/>
          <p:cNvSpPr/>
          <p:nvPr/>
        </p:nvSpPr>
        <p:spPr>
          <a:xfrm>
            <a:off x="0" y="0"/>
            <a:ext cx="12192000"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35566662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DD6CC"/>
          </a:solidFill>
          <a:ln/>
        </p:spPr>
      </p:sp>
      <p:sp>
        <p:nvSpPr>
          <p:cNvPr id="3" name="Shape 1"/>
          <p:cNvSpPr/>
          <p:nvPr/>
        </p:nvSpPr>
        <p:spPr>
          <a:xfrm>
            <a:off x="0" y="0"/>
            <a:ext cx="12192000" cy="6858000"/>
          </a:xfrm>
          <a:prstGeom prst="rect">
            <a:avLst/>
          </a:prstGeom>
          <a:solidFill>
            <a:srgbClr val="EFECE6"/>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4142528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DC5B261-8843-42D1-AAFC-05E20E2D9B97}" type="datetimeFigureOut">
              <a:rPr lang="en-US" dirty="0"/>
              <a:t>1/5/2026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907517"/>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6.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 /><Relationship Id="rId2" Type="http://schemas.openxmlformats.org/officeDocument/2006/relationships/diagramData" Target="../diagrams/data1.xml" /><Relationship Id="rId1" Type="http://schemas.openxmlformats.org/officeDocument/2006/relationships/slideLayout" Target="../slideLayouts/slideLayout7.xml" /><Relationship Id="rId6" Type="http://schemas.microsoft.com/office/2007/relationships/diagramDrawing" Target="../diagrams/drawing1.xml" /><Relationship Id="rId5" Type="http://schemas.openxmlformats.org/officeDocument/2006/relationships/diagramColors" Target="../diagrams/colors1.xml" /><Relationship Id="rId4" Type="http://schemas.openxmlformats.org/officeDocument/2006/relationships/diagramQuickStyle" Target="../diagrams/quickStyle1.xml"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hyperlink" Target="http://OCR.space" TargetMode="External" /><Relationship Id="rId1" Type="http://schemas.openxmlformats.org/officeDocument/2006/relationships/slideLayout" Target="../slideLayouts/slideLayout7.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5.svg" /><Relationship Id="rId2" Type="http://schemas.openxmlformats.org/officeDocument/2006/relationships/image" Target="../media/image4.png" /><Relationship Id="rId1" Type="http://schemas.openxmlformats.org/officeDocument/2006/relationships/slideLayout" Target="../slideLayouts/slideLayout6.xml" /><Relationship Id="rId5" Type="http://schemas.openxmlformats.org/officeDocument/2006/relationships/image" Target="../media/image7.svg" /><Relationship Id="rId4" Type="http://schemas.openxmlformats.org/officeDocument/2006/relationships/image" Target="../media/image6.png"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hyperlink" Target="https://smart-form-filler-omega.vercel.app/" TargetMode="External" /><Relationship Id="rId2" Type="http://schemas.openxmlformats.org/officeDocument/2006/relationships/notesSlide" Target="../notesSlides/notesSlide3.xml" /><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860372" y="2141339"/>
            <a:ext cx="9081948" cy="1771948"/>
          </a:xfrm>
          <a:prstGeom prst="rect">
            <a:avLst/>
          </a:prstGeom>
          <a:noFill/>
          <a:ln/>
        </p:spPr>
        <p:txBody>
          <a:bodyPr wrap="square" lIns="0" tIns="0" rIns="0" bIns="0" rtlCol="0" anchor="t"/>
          <a:lstStyle/>
          <a:p>
            <a:pPr>
              <a:lnSpc>
                <a:spcPts val="4625"/>
              </a:lnSpc>
            </a:pPr>
            <a:r>
              <a:rPr lang="en-US" sz="3708" b="1">
                <a:solidFill>
                  <a:srgbClr val="282824"/>
                </a:solidFill>
                <a:latin typeface="Lato Bold" pitchFamily="34" charset="0"/>
                <a:ea typeface="Lato Bold" pitchFamily="34" charset="-122"/>
                <a:cs typeface="Lato Bold" pitchFamily="34" charset="-120"/>
              </a:rPr>
              <a:t>AI-Powered Form Filling Assistant for Indian Citizen Services</a:t>
            </a:r>
            <a:endParaRPr lang="en-US" sz="3708"/>
          </a:p>
        </p:txBody>
      </p:sp>
      <p:sp>
        <p:nvSpPr>
          <p:cNvPr id="4" name="Text 1"/>
          <p:cNvSpPr/>
          <p:nvPr/>
        </p:nvSpPr>
        <p:spPr>
          <a:xfrm>
            <a:off x="1860372" y="3488072"/>
            <a:ext cx="6297018" cy="302419"/>
          </a:xfrm>
          <a:prstGeom prst="rect">
            <a:avLst/>
          </a:prstGeom>
          <a:noFill/>
          <a:ln/>
        </p:spPr>
        <p:txBody>
          <a:bodyPr wrap="none" lIns="0" tIns="0" rIns="0" bIns="0" rtlCol="0" anchor="t"/>
          <a:lstStyle/>
          <a:p>
            <a:pPr>
              <a:lnSpc>
                <a:spcPts val="2375"/>
              </a:lnSpc>
            </a:pPr>
            <a:r>
              <a:rPr lang="en-US" u="sng" dirty="0">
                <a:solidFill>
                  <a:srgbClr val="4A4A45"/>
                </a:solidFill>
                <a:latin typeface="Lato" pitchFamily="34" charset="0"/>
                <a:ea typeface="Lato" pitchFamily="34" charset="-122"/>
                <a:cs typeface="Lato" pitchFamily="34" charset="-120"/>
              </a:rPr>
              <a:t>Submitted By: </a:t>
            </a:r>
          </a:p>
          <a:p>
            <a:pPr marL="285750" indent="-285750">
              <a:lnSpc>
                <a:spcPts val="2375"/>
              </a:lnSpc>
              <a:buFont typeface="Arial" panose="020B0604020202020204" pitchFamily="34" charset="0"/>
              <a:buChar char="•"/>
            </a:pPr>
            <a:r>
              <a:rPr lang="en-US" dirty="0">
                <a:solidFill>
                  <a:srgbClr val="4A4A45"/>
                </a:solidFill>
                <a:latin typeface="Lato" pitchFamily="34" charset="0"/>
                <a:ea typeface="Lato" pitchFamily="34" charset="-122"/>
                <a:cs typeface="Lato" pitchFamily="34" charset="-120"/>
              </a:rPr>
              <a:t>Gauri Pakhare</a:t>
            </a:r>
          </a:p>
          <a:p>
            <a:pPr marL="285750" indent="-285750">
              <a:lnSpc>
                <a:spcPts val="2375"/>
              </a:lnSpc>
              <a:buFont typeface="Arial" panose="020B0604020202020204" pitchFamily="34" charset="0"/>
              <a:buChar char="•"/>
            </a:pPr>
            <a:r>
              <a:rPr lang="en-US" dirty="0">
                <a:solidFill>
                  <a:srgbClr val="4A4A45"/>
                </a:solidFill>
                <a:latin typeface="Lato" pitchFamily="34" charset="0"/>
                <a:ea typeface="Lato" pitchFamily="34" charset="-122"/>
                <a:cs typeface="Lato" pitchFamily="34" charset="-120"/>
              </a:rPr>
              <a:t>Ruchita Gandhi</a:t>
            </a:r>
          </a:p>
          <a:p>
            <a:pPr marL="285750" indent="-285750">
              <a:lnSpc>
                <a:spcPts val="2375"/>
              </a:lnSpc>
              <a:buFont typeface="Arial" panose="020B0604020202020204" pitchFamily="34" charset="0"/>
              <a:buChar char="•"/>
            </a:pPr>
            <a:r>
              <a:rPr lang="en-US" dirty="0">
                <a:solidFill>
                  <a:srgbClr val="4A4A45"/>
                </a:solidFill>
                <a:latin typeface="Lato" pitchFamily="34" charset="0"/>
                <a:ea typeface="Lato" pitchFamily="34" charset="-122"/>
                <a:cs typeface="Lato" pitchFamily="34" charset="-120"/>
              </a:rPr>
              <a:t>Anushka </a:t>
            </a:r>
            <a:r>
              <a:rPr lang="en-US" dirty="0" err="1">
                <a:solidFill>
                  <a:srgbClr val="4A4A45"/>
                </a:solidFill>
                <a:latin typeface="Lato" pitchFamily="34" charset="0"/>
                <a:ea typeface="Lato" pitchFamily="34" charset="-122"/>
                <a:cs typeface="Lato" pitchFamily="34" charset="-120"/>
              </a:rPr>
              <a:t>Bhuskat</a:t>
            </a:r>
            <a:endParaRPr lang="en-US" dirty="0"/>
          </a:p>
        </p:txBody>
      </p:sp>
      <p:sp>
        <p:nvSpPr>
          <p:cNvPr id="5" name="Text 2"/>
          <p:cNvSpPr/>
          <p:nvPr/>
        </p:nvSpPr>
        <p:spPr>
          <a:xfrm>
            <a:off x="1860372" y="5434638"/>
            <a:ext cx="7224905" cy="604838"/>
          </a:xfrm>
          <a:prstGeom prst="rect">
            <a:avLst/>
          </a:prstGeom>
          <a:noFill/>
          <a:ln/>
        </p:spPr>
        <p:txBody>
          <a:bodyPr wrap="square" lIns="0" tIns="0" rIns="0" bIns="0" rtlCol="0" anchor="t"/>
          <a:lstStyle/>
          <a:p>
            <a:pPr>
              <a:lnSpc>
                <a:spcPts val="2375"/>
              </a:lnSpc>
            </a:pPr>
            <a:r>
              <a:rPr lang="en-US" u="sng" dirty="0">
                <a:solidFill>
                  <a:srgbClr val="4A4A45"/>
                </a:solidFill>
                <a:latin typeface="Lato" pitchFamily="34" charset="0"/>
                <a:ea typeface="Lato" pitchFamily="34" charset="-122"/>
                <a:cs typeface="Lato" pitchFamily="34" charset="-120"/>
              </a:rPr>
              <a:t>Institution</a:t>
            </a:r>
            <a:r>
              <a:rPr lang="en-US" dirty="0">
                <a:solidFill>
                  <a:srgbClr val="4A4A45"/>
                </a:solidFill>
                <a:latin typeface="Lato" pitchFamily="34" charset="0"/>
                <a:ea typeface="Lato" pitchFamily="34" charset="-122"/>
                <a:cs typeface="Lato" pitchFamily="34" charset="-120"/>
              </a:rPr>
              <a:t>: Shri Sant Gajanan Maharaj College of Engineering, </a:t>
            </a:r>
            <a:r>
              <a:rPr lang="en-US" dirty="0" err="1">
                <a:solidFill>
                  <a:srgbClr val="4A4A45"/>
                </a:solidFill>
                <a:latin typeface="Lato" pitchFamily="34" charset="0"/>
                <a:ea typeface="Lato" pitchFamily="34" charset="-122"/>
                <a:cs typeface="Lato" pitchFamily="34" charset="-120"/>
              </a:rPr>
              <a:t>Shegaon</a:t>
            </a:r>
            <a:r>
              <a:rPr lang="en-US" dirty="0">
                <a:solidFill>
                  <a:srgbClr val="4A4A45"/>
                </a:solidFill>
                <a:latin typeface="Lato" pitchFamily="34" charset="0"/>
                <a:ea typeface="Lato" pitchFamily="34" charset="-122"/>
                <a:cs typeface="Lato" pitchFamily="34" charset="-120"/>
              </a:rPr>
              <a:t>.</a:t>
            </a:r>
            <a:endParaRPr lang="en-US" dirty="0"/>
          </a:p>
        </p:txBody>
      </p:sp>
      <p:sp>
        <p:nvSpPr>
          <p:cNvPr id="6" name="Text 3"/>
          <p:cNvSpPr/>
          <p:nvPr/>
        </p:nvSpPr>
        <p:spPr>
          <a:xfrm>
            <a:off x="661492" y="4820544"/>
            <a:ext cx="6297018" cy="604838"/>
          </a:xfrm>
          <a:prstGeom prst="rect">
            <a:avLst/>
          </a:prstGeom>
          <a:noFill/>
          <a:ln/>
        </p:spPr>
        <p:txBody>
          <a:bodyPr wrap="square" lIns="0" tIns="0" rIns="0" bIns="0" rtlCol="0" anchor="t"/>
          <a:lstStyle/>
          <a:p>
            <a:pPr>
              <a:lnSpc>
                <a:spcPts val="2375"/>
              </a:lnSpc>
            </a:pPr>
            <a:endParaRPr lang="en-US" sz="1458"/>
          </a:p>
        </p:txBody>
      </p:sp>
      <p:sp>
        <p:nvSpPr>
          <p:cNvPr id="7" name="TextBox 6">
            <a:extLst>
              <a:ext uri="{FF2B5EF4-FFF2-40B4-BE49-F238E27FC236}">
                <a16:creationId xmlns:a16="http://schemas.microsoft.com/office/drawing/2014/main" id="{85B72AF6-9B7B-BA06-2CE1-B4310246547B}"/>
              </a:ext>
            </a:extLst>
          </p:cNvPr>
          <p:cNvSpPr txBox="1"/>
          <p:nvPr/>
        </p:nvSpPr>
        <p:spPr>
          <a:xfrm>
            <a:off x="3359255" y="803573"/>
            <a:ext cx="4815293" cy="923330"/>
          </a:xfrm>
          <a:prstGeom prst="rect">
            <a:avLst/>
          </a:prstGeom>
          <a:noFill/>
        </p:spPr>
        <p:txBody>
          <a:bodyPr wrap="none" lIns="91440" tIns="45720" rIns="91440" bIns="45720" rtlCol="0" anchor="t">
            <a:spAutoFit/>
          </a:bodyPr>
          <a:lstStyle/>
          <a:p>
            <a:r>
              <a:rPr lang="en-IN" sz="5400" b="1" err="1">
                <a:solidFill>
                  <a:schemeClr val="accent1">
                    <a:lumMod val="75000"/>
                  </a:schemeClr>
                </a:solidFill>
                <a:latin typeface="Calibri"/>
                <a:ea typeface="Calibri"/>
                <a:cs typeface="Calibri"/>
              </a:rPr>
              <a:t>SmartFormFiller</a:t>
            </a:r>
            <a:endParaRPr lang="en-IN" sz="5400" b="1">
              <a:solidFill>
                <a:schemeClr val="accent1">
                  <a:lumMod val="75000"/>
                </a:schemeClr>
              </a:solidFill>
              <a:latin typeface="Calibri"/>
              <a:ea typeface="Calibri"/>
              <a:cs typeface="Calibri"/>
            </a:endParaRPr>
          </a:p>
        </p:txBody>
      </p:sp>
      <p:sp>
        <p:nvSpPr>
          <p:cNvPr id="2" name="Text 1">
            <a:extLst>
              <a:ext uri="{FF2B5EF4-FFF2-40B4-BE49-F238E27FC236}">
                <a16:creationId xmlns:a16="http://schemas.microsoft.com/office/drawing/2014/main" id="{FF93B19A-51E7-A6F4-E1AD-1D034652C2AB}"/>
              </a:ext>
            </a:extLst>
          </p:cNvPr>
          <p:cNvSpPr/>
          <p:nvPr/>
        </p:nvSpPr>
        <p:spPr>
          <a:xfrm>
            <a:off x="1860372" y="4848873"/>
            <a:ext cx="6297018" cy="302419"/>
          </a:xfrm>
          <a:prstGeom prst="rect">
            <a:avLst/>
          </a:prstGeom>
          <a:noFill/>
          <a:ln/>
        </p:spPr>
        <p:txBody>
          <a:bodyPr wrap="none" lIns="0" tIns="0" rIns="0" bIns="0" rtlCol="0" anchor="t"/>
          <a:lstStyle/>
          <a:p>
            <a:pPr>
              <a:lnSpc>
                <a:spcPts val="2375"/>
              </a:lnSpc>
            </a:pPr>
            <a:r>
              <a:rPr lang="en-US" u="sng" dirty="0">
                <a:solidFill>
                  <a:srgbClr val="4A4A45"/>
                </a:solidFill>
                <a:latin typeface="Lato" pitchFamily="34" charset="0"/>
                <a:ea typeface="Lato" pitchFamily="34" charset="-122"/>
                <a:cs typeface="Lato" pitchFamily="34" charset="-120"/>
              </a:rPr>
              <a:t>Mentored By</a:t>
            </a:r>
            <a:r>
              <a:rPr lang="en-US" dirty="0">
                <a:solidFill>
                  <a:srgbClr val="4A4A45"/>
                </a:solidFill>
                <a:latin typeface="Lato" pitchFamily="34" charset="0"/>
                <a:ea typeface="Lato" pitchFamily="34" charset="-122"/>
                <a:cs typeface="Lato" pitchFamily="34" charset="-120"/>
              </a:rPr>
              <a:t>: Prof. Kalyani P. Sable ( Assistant Professor CSE Department)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2">
            <a:extLst>
              <a:ext uri="{FF2B5EF4-FFF2-40B4-BE49-F238E27FC236}">
                <a16:creationId xmlns:a16="http://schemas.microsoft.com/office/drawing/2014/main" id="{E6E59CD3-F58D-7FEB-2EB0-8E70AADCB67A}"/>
              </a:ext>
            </a:extLst>
          </p:cNvPr>
          <p:cNvSpPr/>
          <p:nvPr/>
        </p:nvSpPr>
        <p:spPr>
          <a:xfrm>
            <a:off x="6163110" y="1540736"/>
            <a:ext cx="5419144" cy="4081035"/>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sp>
      <p:sp>
        <p:nvSpPr>
          <p:cNvPr id="11" name="Shape 2">
            <a:extLst>
              <a:ext uri="{FF2B5EF4-FFF2-40B4-BE49-F238E27FC236}">
                <a16:creationId xmlns:a16="http://schemas.microsoft.com/office/drawing/2014/main" id="{D0EEF521-B3EA-CF23-83E2-EBC1B06A0C99}"/>
              </a:ext>
            </a:extLst>
          </p:cNvPr>
          <p:cNvSpPr/>
          <p:nvPr/>
        </p:nvSpPr>
        <p:spPr>
          <a:xfrm>
            <a:off x="732303" y="4562905"/>
            <a:ext cx="5251453" cy="1058866"/>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sp>
      <p:sp>
        <p:nvSpPr>
          <p:cNvPr id="10" name="Shape 2">
            <a:extLst>
              <a:ext uri="{FF2B5EF4-FFF2-40B4-BE49-F238E27FC236}">
                <a16:creationId xmlns:a16="http://schemas.microsoft.com/office/drawing/2014/main" id="{3D7AE781-1047-3279-8190-652BCB4D285C}"/>
              </a:ext>
            </a:extLst>
          </p:cNvPr>
          <p:cNvSpPr/>
          <p:nvPr/>
        </p:nvSpPr>
        <p:spPr>
          <a:xfrm>
            <a:off x="732303" y="1591546"/>
            <a:ext cx="5251453" cy="2523774"/>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sp>
      <p:sp>
        <p:nvSpPr>
          <p:cNvPr id="2" name="Text 0">
            <a:extLst>
              <a:ext uri="{FF2B5EF4-FFF2-40B4-BE49-F238E27FC236}">
                <a16:creationId xmlns:a16="http://schemas.microsoft.com/office/drawing/2014/main" id="{B6341AEF-76F4-9A4C-AEBF-440E024B7BA5}"/>
              </a:ext>
            </a:extLst>
          </p:cNvPr>
          <p:cNvSpPr/>
          <p:nvPr/>
        </p:nvSpPr>
        <p:spPr>
          <a:xfrm>
            <a:off x="764925" y="524792"/>
            <a:ext cx="4725492" cy="590649"/>
          </a:xfrm>
          <a:prstGeom prst="rect">
            <a:avLst/>
          </a:prstGeom>
          <a:noFill/>
          <a:ln/>
        </p:spPr>
        <p:txBody>
          <a:bodyPr wrap="none" lIns="0" tIns="0" rIns="0" bIns="0" rtlCol="0" anchor="t"/>
          <a:lstStyle/>
          <a:p>
            <a:pPr>
              <a:lnSpc>
                <a:spcPts val="4625"/>
              </a:lnSpc>
            </a:pPr>
            <a:r>
              <a:rPr lang="en-US" sz="3708" b="1" dirty="0">
                <a:solidFill>
                  <a:srgbClr val="282824"/>
                </a:solidFill>
                <a:latin typeface="Lato Bold" pitchFamily="34" charset="0"/>
                <a:ea typeface="Lato Bold" pitchFamily="34" charset="-122"/>
                <a:cs typeface="Lato Bold" pitchFamily="34" charset="-120"/>
              </a:rPr>
              <a:t>Project Overview</a:t>
            </a:r>
            <a:endParaRPr lang="en-US" sz="3708" dirty="0"/>
          </a:p>
        </p:txBody>
      </p:sp>
      <p:sp>
        <p:nvSpPr>
          <p:cNvPr id="3" name="Text 1">
            <a:extLst>
              <a:ext uri="{FF2B5EF4-FFF2-40B4-BE49-F238E27FC236}">
                <a16:creationId xmlns:a16="http://schemas.microsoft.com/office/drawing/2014/main" id="{5B2205F7-638C-8AB6-C5A3-7D3D8D2E735A}"/>
              </a:ext>
            </a:extLst>
          </p:cNvPr>
          <p:cNvSpPr/>
          <p:nvPr/>
        </p:nvSpPr>
        <p:spPr>
          <a:xfrm>
            <a:off x="825093" y="1296271"/>
            <a:ext cx="2362696" cy="295275"/>
          </a:xfrm>
          <a:prstGeom prst="rect">
            <a:avLst/>
          </a:prstGeom>
          <a:noFill/>
          <a:ln/>
        </p:spPr>
        <p:txBody>
          <a:bodyPr wrap="none" lIns="0" tIns="0" rIns="0" bIns="0" rtlCol="0" anchor="t"/>
          <a:lstStyle/>
          <a:p>
            <a:pPr>
              <a:lnSpc>
                <a:spcPts val="2292"/>
              </a:lnSpc>
            </a:pPr>
            <a:r>
              <a:rPr lang="en-US" sz="1833" b="1" dirty="0">
                <a:solidFill>
                  <a:srgbClr val="282824"/>
                </a:solidFill>
                <a:latin typeface="Lato Bold" pitchFamily="34" charset="0"/>
                <a:ea typeface="Lato Bold" pitchFamily="34" charset="-122"/>
                <a:cs typeface="Lato Bold" pitchFamily="34" charset="-120"/>
              </a:rPr>
              <a:t>Problem Statement:</a:t>
            </a:r>
            <a:endParaRPr lang="en-US" sz="1833" dirty="0"/>
          </a:p>
        </p:txBody>
      </p:sp>
      <p:sp>
        <p:nvSpPr>
          <p:cNvPr id="4" name="Text 3">
            <a:extLst>
              <a:ext uri="{FF2B5EF4-FFF2-40B4-BE49-F238E27FC236}">
                <a16:creationId xmlns:a16="http://schemas.microsoft.com/office/drawing/2014/main" id="{40A0ABB1-1348-68E5-3662-F44FC60B8ADB}"/>
              </a:ext>
            </a:extLst>
          </p:cNvPr>
          <p:cNvSpPr/>
          <p:nvPr/>
        </p:nvSpPr>
        <p:spPr>
          <a:xfrm>
            <a:off x="777437" y="4267630"/>
            <a:ext cx="2362696" cy="295275"/>
          </a:xfrm>
          <a:prstGeom prst="rect">
            <a:avLst/>
          </a:prstGeom>
          <a:noFill/>
          <a:ln/>
        </p:spPr>
        <p:txBody>
          <a:bodyPr wrap="none" lIns="0" tIns="0" rIns="0" bIns="0" rtlCol="0" anchor="t"/>
          <a:lstStyle/>
          <a:p>
            <a:pPr>
              <a:lnSpc>
                <a:spcPts val="2292"/>
              </a:lnSpc>
            </a:pPr>
            <a:r>
              <a:rPr lang="en-US" sz="1833" b="1" dirty="0">
                <a:solidFill>
                  <a:srgbClr val="282824"/>
                </a:solidFill>
                <a:latin typeface="Lato Bold" pitchFamily="34" charset="0"/>
                <a:ea typeface="Lato Bold" pitchFamily="34" charset="-122"/>
                <a:cs typeface="Lato Bold" pitchFamily="34" charset="-120"/>
              </a:rPr>
              <a:t>The Solution:</a:t>
            </a:r>
            <a:endParaRPr lang="en-US" sz="1833" dirty="0"/>
          </a:p>
        </p:txBody>
      </p:sp>
      <p:sp>
        <p:nvSpPr>
          <p:cNvPr id="5" name="Text 2">
            <a:extLst>
              <a:ext uri="{FF2B5EF4-FFF2-40B4-BE49-F238E27FC236}">
                <a16:creationId xmlns:a16="http://schemas.microsoft.com/office/drawing/2014/main" id="{E51704FF-B0CA-8FC3-0F98-8CCC7A95D16D}"/>
              </a:ext>
            </a:extLst>
          </p:cNvPr>
          <p:cNvSpPr/>
          <p:nvPr/>
        </p:nvSpPr>
        <p:spPr>
          <a:xfrm>
            <a:off x="825093" y="1591546"/>
            <a:ext cx="5089068" cy="907257"/>
          </a:xfrm>
          <a:prstGeom prst="rect">
            <a:avLst/>
          </a:prstGeom>
          <a:noFill/>
          <a:ln/>
        </p:spPr>
        <p:txBody>
          <a:bodyPr wrap="square" lIns="0" tIns="0" rIns="0" bIns="0" rtlCol="0" anchor="t"/>
          <a:lstStyle/>
          <a:p>
            <a:pPr algn="just">
              <a:lnSpc>
                <a:spcPts val="2375"/>
              </a:lnSpc>
            </a:pPr>
            <a:r>
              <a:rPr 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Citizens in India often face difficulties while filling government service forms at Seva </a:t>
            </a:r>
            <a:r>
              <a:rPr lang="en-US" sz="1460" dirty="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Kendras</a:t>
            </a:r>
            <a:r>
              <a:rPr 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due to repetitive data entry, language barriers, and manual errors. An AI-powered form filling assistant is needed to automatically extract details from uploaded documents and allow users to correct or complete incorrect information using voice input, while supporting multiple Indian languages to make the process faster, more accurate, and accessible</a:t>
            </a:r>
            <a:r>
              <a:rPr lang="en-US" sz="1600" dirty="0">
                <a:solidFill>
                  <a:schemeClr val="tx2">
                    <a:lumMod val="75000"/>
                  </a:schemeClr>
                </a:solidFill>
              </a:rPr>
              <a:t>.</a:t>
            </a:r>
            <a:endParaRPr lang="en-US" sz="1458" dirty="0">
              <a:solidFill>
                <a:schemeClr val="tx2">
                  <a:lumMod val="75000"/>
                </a:schemeClr>
              </a:solidFill>
            </a:endParaRPr>
          </a:p>
        </p:txBody>
      </p:sp>
      <p:sp>
        <p:nvSpPr>
          <p:cNvPr id="6" name="Text 4">
            <a:extLst>
              <a:ext uri="{FF2B5EF4-FFF2-40B4-BE49-F238E27FC236}">
                <a16:creationId xmlns:a16="http://schemas.microsoft.com/office/drawing/2014/main" id="{AF3FC084-3703-C231-0391-F30E501571B9}"/>
              </a:ext>
            </a:extLst>
          </p:cNvPr>
          <p:cNvSpPr/>
          <p:nvPr/>
        </p:nvSpPr>
        <p:spPr>
          <a:xfrm>
            <a:off x="825093" y="4562905"/>
            <a:ext cx="5089068" cy="907257"/>
          </a:xfrm>
          <a:prstGeom prst="rect">
            <a:avLst/>
          </a:prstGeom>
          <a:noFill/>
          <a:ln/>
        </p:spPr>
        <p:txBody>
          <a:bodyPr wrap="square" lIns="0" tIns="0" rIns="0" bIns="0" rtlCol="0" anchor="t"/>
          <a:lstStyle/>
          <a:p>
            <a:pPr algn="just">
              <a:lnSpc>
                <a:spcPts val="2375"/>
              </a:lnSpc>
            </a:pPr>
            <a:r>
              <a:rPr lang="en-US" sz="1458" dirty="0">
                <a:solidFill>
                  <a:srgbClr val="4A4A45"/>
                </a:solidFill>
                <a:latin typeface="Lato" pitchFamily="34" charset="0"/>
                <a:ea typeface="Lato" pitchFamily="34" charset="-122"/>
                <a:cs typeface="Lato" pitchFamily="34" charset="-120"/>
              </a:rPr>
              <a:t>An AI-powered assistant that automatically fills digital government form templates by extracting data from uploaded documents such as Aadhaar or Voter ID.</a:t>
            </a:r>
            <a:endParaRPr lang="en-US" sz="1458" dirty="0"/>
          </a:p>
        </p:txBody>
      </p:sp>
      <p:sp>
        <p:nvSpPr>
          <p:cNvPr id="7" name="Shape 5">
            <a:extLst>
              <a:ext uri="{FF2B5EF4-FFF2-40B4-BE49-F238E27FC236}">
                <a16:creationId xmlns:a16="http://schemas.microsoft.com/office/drawing/2014/main" id="{34905563-8C6B-331A-DB04-3D83D4C246A8}"/>
              </a:ext>
            </a:extLst>
          </p:cNvPr>
          <p:cNvSpPr/>
          <p:nvPr/>
        </p:nvSpPr>
        <p:spPr>
          <a:xfrm>
            <a:off x="777437" y="5671232"/>
            <a:ext cx="10804819" cy="590650"/>
          </a:xfrm>
          <a:prstGeom prst="roundRect">
            <a:avLst>
              <a:gd name="adj" fmla="val 3530"/>
            </a:avLst>
          </a:prstGeom>
          <a:solidFill>
            <a:schemeClr val="tx1">
              <a:lumMod val="50000"/>
              <a:lumOff val="50000"/>
            </a:schemeClr>
          </a:solidFill>
          <a:ln/>
        </p:spPr>
        <p:txBody>
          <a:bodyPr/>
          <a:lstStyle/>
          <a:p>
            <a:endParaRPr lang="en-IN"/>
          </a:p>
        </p:txBody>
      </p:sp>
      <p:sp>
        <p:nvSpPr>
          <p:cNvPr id="8" name="Text 6">
            <a:extLst>
              <a:ext uri="{FF2B5EF4-FFF2-40B4-BE49-F238E27FC236}">
                <a16:creationId xmlns:a16="http://schemas.microsoft.com/office/drawing/2014/main" id="{14C5CB9C-2F6E-5603-B40D-576835292718}"/>
              </a:ext>
            </a:extLst>
          </p:cNvPr>
          <p:cNvSpPr/>
          <p:nvPr/>
        </p:nvSpPr>
        <p:spPr>
          <a:xfrm>
            <a:off x="875505" y="5809915"/>
            <a:ext cx="10608681" cy="800090"/>
          </a:xfrm>
          <a:prstGeom prst="rect">
            <a:avLst/>
          </a:prstGeom>
          <a:noFill/>
          <a:ln/>
        </p:spPr>
        <p:txBody>
          <a:bodyPr wrap="none" lIns="0" tIns="0" rIns="0" bIns="0" rtlCol="0" anchor="t"/>
          <a:lstStyle/>
          <a:p>
            <a:pPr>
              <a:lnSpc>
                <a:spcPts val="2375"/>
              </a:lnSpc>
            </a:pPr>
            <a:r>
              <a:rPr lang="en-US" sz="1600" dirty="0">
                <a:solidFill>
                  <a:schemeClr val="bg1">
                    <a:lumMod val="95000"/>
                  </a:schemeClr>
                </a:solidFill>
                <a:latin typeface="Lato" pitchFamily="34" charset="0"/>
                <a:ea typeface="Lato" pitchFamily="34" charset="-122"/>
                <a:cs typeface="Lato" pitchFamily="34" charset="-120"/>
              </a:rPr>
              <a:t>Key Innovation: Combining Optical Character Recognition (OCR) with AI to map unstructured text into structured fields.</a:t>
            </a:r>
            <a:endParaRPr lang="en-US" sz="1600" dirty="0">
              <a:solidFill>
                <a:schemeClr val="bg1">
                  <a:lumMod val="95000"/>
                </a:schemeClr>
              </a:solidFill>
            </a:endParaRPr>
          </a:p>
        </p:txBody>
      </p:sp>
      <p:sp>
        <p:nvSpPr>
          <p:cNvPr id="9" name="Text 1">
            <a:extLst>
              <a:ext uri="{FF2B5EF4-FFF2-40B4-BE49-F238E27FC236}">
                <a16:creationId xmlns:a16="http://schemas.microsoft.com/office/drawing/2014/main" id="{DA531874-DF27-352E-518E-D9628CC39A89}"/>
              </a:ext>
            </a:extLst>
          </p:cNvPr>
          <p:cNvSpPr/>
          <p:nvPr/>
        </p:nvSpPr>
        <p:spPr>
          <a:xfrm>
            <a:off x="6179845" y="1130447"/>
            <a:ext cx="2362696" cy="211564"/>
          </a:xfrm>
          <a:prstGeom prst="rect">
            <a:avLst/>
          </a:prstGeom>
          <a:noFill/>
          <a:ln/>
        </p:spPr>
        <p:txBody>
          <a:bodyPr wrap="none" lIns="0" tIns="0" rIns="0" bIns="0" rtlCol="0" anchor="t"/>
          <a:lstStyle/>
          <a:p>
            <a:pPr>
              <a:lnSpc>
                <a:spcPts val="2292"/>
              </a:lnSpc>
            </a:pPr>
            <a:r>
              <a:rPr lang="en-US" sz="1833" b="1" dirty="0">
                <a:solidFill>
                  <a:srgbClr val="282824"/>
                </a:solidFill>
                <a:latin typeface="Lato Bold" pitchFamily="34" charset="0"/>
                <a:ea typeface="Lato Bold" pitchFamily="34" charset="-122"/>
                <a:cs typeface="Lato Bold" pitchFamily="34" charset="-120"/>
              </a:rPr>
              <a:t>Objectives:</a:t>
            </a:r>
            <a:endParaRPr lang="en-US" sz="1833" dirty="0"/>
          </a:p>
        </p:txBody>
      </p:sp>
      <p:sp>
        <p:nvSpPr>
          <p:cNvPr id="12" name="TextBox 11">
            <a:extLst>
              <a:ext uri="{FF2B5EF4-FFF2-40B4-BE49-F238E27FC236}">
                <a16:creationId xmlns:a16="http://schemas.microsoft.com/office/drawing/2014/main" id="{499FCEB9-ADB2-EE2A-E990-633721799F51}"/>
              </a:ext>
            </a:extLst>
          </p:cNvPr>
          <p:cNvSpPr txBox="1"/>
          <p:nvPr/>
        </p:nvSpPr>
        <p:spPr>
          <a:xfrm>
            <a:off x="6096000" y="1443909"/>
            <a:ext cx="5486254" cy="4522648"/>
          </a:xfrm>
          <a:prstGeom prst="rect">
            <a:avLst/>
          </a:prstGeom>
          <a:noFill/>
        </p:spPr>
        <p:txBody>
          <a:bodyPr wrap="square">
            <a:spAutoFit/>
          </a:bodyPr>
          <a:lstStyle/>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develop an AI-based system that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automatically extracts key personal details</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from uploaded documents.</a:t>
            </a:r>
          </a:p>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auto-fill government service forms</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by correctly mapping extracted data to respective form fields.</a:t>
            </a:r>
          </a:p>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provide a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user-friendly review and edit interface</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before final form submission.</a:t>
            </a:r>
          </a:p>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support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multiple Indian languages</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to ensure accessibility for diverse users.</a:t>
            </a:r>
          </a:p>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enable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voice-based input</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for users who face difficulty in typing or reading.</a:t>
            </a:r>
          </a:p>
          <a:p>
            <a:pPr marL="285750" lvl="0" indent="-285750" algn="just" defTabSz="914400" eaLnBrk="0" fontAlgn="base" hangingPunct="0">
              <a:lnSpc>
                <a:spcPct val="150000"/>
              </a:lnSpc>
              <a:spcBef>
                <a:spcPts val="120"/>
              </a:spcBef>
              <a:spcAft>
                <a:spcPts val="120"/>
              </a:spcAft>
              <a:buFont typeface="Arial" panose="020B0604020202020204" pitchFamily="34" charset="0"/>
              <a:buChar char="•"/>
            </a:pP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To reduce </a:t>
            </a:r>
            <a:r>
              <a:rPr lang="en-US" altLang="en-US" sz="1460" b="1"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manual effort, errors, and processing time</a:t>
            </a:r>
            <a:r>
              <a:rPr lang="en-US" alt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Seva </a:t>
            </a:r>
            <a:r>
              <a:rPr lang="en-US" altLang="en-US" sz="1460" dirty="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Kendras</a:t>
            </a:r>
            <a:r>
              <a:rPr lang="en-US" altLang="en-US" sz="1460" dirty="0">
                <a:latin typeface="Lato" panose="020F0502020204030203" pitchFamily="34" charset="0"/>
                <a:ea typeface="Lato" panose="020F0502020204030203" pitchFamily="34" charset="0"/>
                <a:cs typeface="Lato" panose="020F0502020204030203" pitchFamily="34" charset="0"/>
              </a:rPr>
              <a:t>.</a:t>
            </a:r>
          </a:p>
          <a:p>
            <a:pPr algn="just">
              <a:lnSpc>
                <a:spcPts val="2375"/>
              </a:lnSpc>
            </a:pPr>
            <a:r>
              <a:rPr lang="en-US" sz="1460" dirty="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a:r>
          </a:p>
        </p:txBody>
      </p:sp>
    </p:spTree>
    <p:extLst>
      <p:ext uri="{BB962C8B-B14F-4D97-AF65-F5344CB8AC3E}">
        <p14:creationId xmlns:p14="http://schemas.microsoft.com/office/powerpoint/2010/main" val="171751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2AB771E-D02A-75CA-2D53-C7FE097A2C0C}"/>
              </a:ext>
            </a:extLst>
          </p:cNvPr>
          <p:cNvGraphicFramePr/>
          <p:nvPr>
            <p:extLst>
              <p:ext uri="{D42A27DB-BD31-4B8C-83A1-F6EECF244321}">
                <p14:modId xmlns:p14="http://schemas.microsoft.com/office/powerpoint/2010/main" val="3867422313"/>
              </p:ext>
            </p:extLst>
          </p:nvPr>
        </p:nvGraphicFramePr>
        <p:xfrm>
          <a:off x="1352130" y="1758852"/>
          <a:ext cx="10021759" cy="43794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0">
            <a:extLst>
              <a:ext uri="{FF2B5EF4-FFF2-40B4-BE49-F238E27FC236}">
                <a16:creationId xmlns:a16="http://schemas.microsoft.com/office/drawing/2014/main" id="{68D97C85-3B12-D10A-6B2B-BDEE95EABB5F}"/>
              </a:ext>
            </a:extLst>
          </p:cNvPr>
          <p:cNvSpPr/>
          <p:nvPr/>
        </p:nvSpPr>
        <p:spPr>
          <a:xfrm>
            <a:off x="930722" y="775196"/>
            <a:ext cx="4489252" cy="561182"/>
          </a:xfrm>
          <a:prstGeom prst="rect">
            <a:avLst/>
          </a:prstGeom>
          <a:noFill/>
          <a:ln/>
        </p:spPr>
        <p:txBody>
          <a:bodyPr wrap="none" lIns="0" tIns="0" rIns="0" bIns="0" rtlCol="0" anchor="t"/>
          <a:lstStyle/>
          <a:p>
            <a:pPr>
              <a:lnSpc>
                <a:spcPts val="4416"/>
              </a:lnSpc>
            </a:pPr>
            <a:r>
              <a:rPr lang="en-US" sz="3500" b="1">
                <a:solidFill>
                  <a:srgbClr val="282824"/>
                </a:solidFill>
                <a:latin typeface="Lato Bold" pitchFamily="34" charset="0"/>
                <a:ea typeface="Lato Bold" pitchFamily="34" charset="-122"/>
                <a:cs typeface="Lato Bold" pitchFamily="34" charset="-120"/>
              </a:rPr>
              <a:t>System Workflow</a:t>
            </a:r>
            <a:endParaRPr lang="en-US" sz="3500"/>
          </a:p>
        </p:txBody>
      </p:sp>
      <p:sp>
        <p:nvSpPr>
          <p:cNvPr id="6" name="Text 1">
            <a:extLst>
              <a:ext uri="{FF2B5EF4-FFF2-40B4-BE49-F238E27FC236}">
                <a16:creationId xmlns:a16="http://schemas.microsoft.com/office/drawing/2014/main" id="{8CCEF6DC-7784-16CF-DF04-F2E107ED51D9}"/>
              </a:ext>
            </a:extLst>
          </p:cNvPr>
          <p:cNvSpPr/>
          <p:nvPr/>
        </p:nvSpPr>
        <p:spPr>
          <a:xfrm>
            <a:off x="930721" y="1471514"/>
            <a:ext cx="10869018" cy="287338"/>
          </a:xfrm>
          <a:prstGeom prst="rect">
            <a:avLst/>
          </a:prstGeom>
          <a:noFill/>
          <a:ln/>
        </p:spPr>
        <p:txBody>
          <a:bodyPr wrap="none" lIns="0" tIns="0" rIns="0" bIns="0" rtlCol="0" anchor="t"/>
          <a:lstStyle/>
          <a:p>
            <a:pPr>
              <a:lnSpc>
                <a:spcPts val="2250"/>
              </a:lnSpc>
            </a:pPr>
            <a:r>
              <a:rPr lang="en-US" sz="1375">
                <a:solidFill>
                  <a:srgbClr val="4A4A45"/>
                </a:solidFill>
                <a:latin typeface="Lato" pitchFamily="34" charset="0"/>
                <a:ea typeface="Lato" pitchFamily="34" charset="-122"/>
                <a:cs typeface="Lato" pitchFamily="34" charset="-120"/>
              </a:rPr>
              <a:t>The sources define a clear logical flow for the application:</a:t>
            </a:r>
            <a:endParaRPr lang="en-US" sz="1375"/>
          </a:p>
        </p:txBody>
      </p:sp>
    </p:spTree>
    <p:extLst>
      <p:ext uri="{BB962C8B-B14F-4D97-AF65-F5344CB8AC3E}">
        <p14:creationId xmlns:p14="http://schemas.microsoft.com/office/powerpoint/2010/main" val="957410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A0285C9-569C-B71F-7F34-B5603C636F09}"/>
              </a:ext>
            </a:extLst>
          </p:cNvPr>
          <p:cNvSpPr/>
          <p:nvPr/>
        </p:nvSpPr>
        <p:spPr>
          <a:xfrm>
            <a:off x="1159550" y="1182926"/>
            <a:ext cx="5670590" cy="708779"/>
          </a:xfrm>
          <a:prstGeom prst="rect">
            <a:avLst/>
          </a:prstGeom>
          <a:noFill/>
          <a:ln/>
        </p:spPr>
        <p:txBody>
          <a:bodyPr wrap="none" lIns="0" tIns="0" rIns="0" bIns="0" rtlCol="0" anchor="t"/>
          <a:lstStyle/>
          <a:p>
            <a:pPr marL="0" indent="0" algn="l">
              <a:lnSpc>
                <a:spcPts val="5550"/>
              </a:lnSpc>
              <a:buNone/>
            </a:pPr>
            <a:r>
              <a:rPr lang="en-US" sz="4450" b="1">
                <a:solidFill>
                  <a:srgbClr val="282824"/>
                </a:solidFill>
                <a:latin typeface="Lato Bold" pitchFamily="34" charset="0"/>
                <a:ea typeface="Lato Bold" pitchFamily="34" charset="-122"/>
                <a:cs typeface="Lato Bold" pitchFamily="34" charset="-120"/>
              </a:rPr>
              <a:t>Technology Stack</a:t>
            </a:r>
            <a:endParaRPr lang="en-US" sz="4450"/>
          </a:p>
        </p:txBody>
      </p:sp>
      <p:sp>
        <p:nvSpPr>
          <p:cNvPr id="5" name="Text 1">
            <a:extLst>
              <a:ext uri="{FF2B5EF4-FFF2-40B4-BE49-F238E27FC236}">
                <a16:creationId xmlns:a16="http://schemas.microsoft.com/office/drawing/2014/main" id="{B3AFE33B-859B-D501-5B48-D428062F3EF7}"/>
              </a:ext>
            </a:extLst>
          </p:cNvPr>
          <p:cNvSpPr/>
          <p:nvPr/>
        </p:nvSpPr>
        <p:spPr>
          <a:xfrm>
            <a:off x="1230670" y="2312312"/>
            <a:ext cx="7556421" cy="362903"/>
          </a:xfrm>
          <a:prstGeom prst="rect">
            <a:avLst/>
          </a:prstGeom>
          <a:noFill/>
          <a:ln/>
        </p:spPr>
        <p:txBody>
          <a:bodyPr wrap="none" lIns="0" tIns="0" rIns="0" bIns="0" rtlCol="0" anchor="t"/>
          <a:lstStyle/>
          <a:p>
            <a:pPr marL="0" indent="0" algn="l">
              <a:lnSpc>
                <a:spcPts val="2850"/>
              </a:lnSpc>
              <a:buNone/>
            </a:pPr>
            <a:r>
              <a:rPr lang="en-US" sz="1750">
                <a:solidFill>
                  <a:srgbClr val="4A4A45"/>
                </a:solidFill>
                <a:latin typeface="Lato" pitchFamily="34" charset="0"/>
                <a:ea typeface="Lato" pitchFamily="34" charset="-122"/>
                <a:cs typeface="Lato" pitchFamily="34" charset="-120"/>
              </a:rPr>
              <a:t>The project is built using a modern full-stack architecture:</a:t>
            </a:r>
            <a:endParaRPr lang="en-US" sz="1750"/>
          </a:p>
        </p:txBody>
      </p:sp>
      <p:sp>
        <p:nvSpPr>
          <p:cNvPr id="6" name="Text 2">
            <a:extLst>
              <a:ext uri="{FF2B5EF4-FFF2-40B4-BE49-F238E27FC236}">
                <a16:creationId xmlns:a16="http://schemas.microsoft.com/office/drawing/2014/main" id="{17A6EDF1-8916-2798-51B0-41D4D94243BB}"/>
              </a:ext>
            </a:extLst>
          </p:cNvPr>
          <p:cNvSpPr/>
          <p:nvPr/>
        </p:nvSpPr>
        <p:spPr>
          <a:xfrm>
            <a:off x="1230670" y="2815510"/>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Frontend:</a:t>
            </a:r>
            <a:r>
              <a:rPr lang="en-US" sz="1750">
                <a:solidFill>
                  <a:srgbClr val="4A4A45"/>
                </a:solidFill>
                <a:latin typeface="Lato" pitchFamily="34" charset="0"/>
                <a:ea typeface="Lato" pitchFamily="34" charset="-122"/>
                <a:cs typeface="Lato" pitchFamily="34" charset="-120"/>
              </a:rPr>
              <a:t> Next.js 16/18, React 19, Tailwind CSS, and shadcn/ui.</a:t>
            </a:r>
            <a:endParaRPr lang="en-US" sz="1750"/>
          </a:p>
        </p:txBody>
      </p:sp>
      <p:sp>
        <p:nvSpPr>
          <p:cNvPr id="7" name="Text 3">
            <a:extLst>
              <a:ext uri="{FF2B5EF4-FFF2-40B4-BE49-F238E27FC236}">
                <a16:creationId xmlns:a16="http://schemas.microsoft.com/office/drawing/2014/main" id="{9C9826FD-2C44-AE68-3106-46857CB31536}"/>
              </a:ext>
            </a:extLst>
          </p:cNvPr>
          <p:cNvSpPr/>
          <p:nvPr/>
        </p:nvSpPr>
        <p:spPr>
          <a:xfrm>
            <a:off x="1230670" y="325770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Backend:</a:t>
            </a:r>
            <a:r>
              <a:rPr lang="en-US" sz="1750">
                <a:solidFill>
                  <a:srgbClr val="4A4A45"/>
                </a:solidFill>
                <a:latin typeface="Lato" pitchFamily="34" charset="0"/>
                <a:ea typeface="Lato" pitchFamily="34" charset="-122"/>
                <a:cs typeface="Lato" pitchFamily="34" charset="-120"/>
              </a:rPr>
              <a:t> Next.js API routes and Node.js.</a:t>
            </a:r>
            <a:endParaRPr lang="en-US" sz="1750"/>
          </a:p>
        </p:txBody>
      </p:sp>
      <p:sp>
        <p:nvSpPr>
          <p:cNvPr id="8" name="Text 4">
            <a:extLst>
              <a:ext uri="{FF2B5EF4-FFF2-40B4-BE49-F238E27FC236}">
                <a16:creationId xmlns:a16="http://schemas.microsoft.com/office/drawing/2014/main" id="{98F23B68-5BA9-13F7-D892-3072F4450074}"/>
              </a:ext>
            </a:extLst>
          </p:cNvPr>
          <p:cNvSpPr/>
          <p:nvPr/>
        </p:nvSpPr>
        <p:spPr>
          <a:xfrm>
            <a:off x="1230670" y="3699906"/>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Database &amp; Auth:</a:t>
            </a:r>
            <a:r>
              <a:rPr lang="en-US" sz="1750">
                <a:solidFill>
                  <a:srgbClr val="4A4A45"/>
                </a:solidFill>
                <a:latin typeface="Lato" pitchFamily="34" charset="0"/>
                <a:ea typeface="Lato" pitchFamily="34" charset="-122"/>
                <a:cs typeface="Lato" pitchFamily="34" charset="-120"/>
              </a:rPr>
              <a:t> Supabase (PostgreSQL) using JWT tokens.</a:t>
            </a:r>
            <a:endParaRPr lang="en-US" sz="1750"/>
          </a:p>
        </p:txBody>
      </p:sp>
      <p:sp>
        <p:nvSpPr>
          <p:cNvPr id="9" name="Text 5">
            <a:extLst>
              <a:ext uri="{FF2B5EF4-FFF2-40B4-BE49-F238E27FC236}">
                <a16:creationId xmlns:a16="http://schemas.microsoft.com/office/drawing/2014/main" id="{D9D03852-1E24-0B6C-7805-3B82FFE1C45E}"/>
              </a:ext>
            </a:extLst>
          </p:cNvPr>
          <p:cNvSpPr/>
          <p:nvPr/>
        </p:nvSpPr>
        <p:spPr>
          <a:xfrm>
            <a:off x="1230670" y="4142104"/>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AI &amp; OCR Services:</a:t>
            </a:r>
            <a:r>
              <a:rPr lang="en-US" sz="1750">
                <a:solidFill>
                  <a:srgbClr val="4A4A45"/>
                </a:solidFill>
                <a:latin typeface="Lato" pitchFamily="34" charset="0"/>
                <a:ea typeface="Lato" pitchFamily="34" charset="-122"/>
                <a:cs typeface="Lato" pitchFamily="34" charset="-120"/>
              </a:rPr>
              <a:t> </a:t>
            </a:r>
            <a:r>
              <a:rPr lang="en-US" sz="1750" u="sng">
                <a:solidFill>
                  <a:srgbClr val="282824"/>
                </a:solidFill>
                <a:latin typeface="Lato" pitchFamily="34" charset="0"/>
                <a:ea typeface="Lato" pitchFamily="34" charset="-122"/>
                <a:cs typeface="Lato" pitchFamily="34" charset="-120"/>
                <a:hlinkClick r:id="rId2">
                  <a:extLst>
                    <a:ext uri="{A12FA001-AC4F-418D-AE19-62706E023703}">
                      <ahyp:hlinkClr xmlns:ahyp="http://schemas.microsoft.com/office/drawing/2018/hyperlinkcolor" val="tx"/>
                    </a:ext>
                  </a:extLst>
                </a:hlinkClick>
              </a:rPr>
              <a:t>OCR.space</a:t>
            </a:r>
            <a:r>
              <a:rPr lang="en-US" sz="1750">
                <a:solidFill>
                  <a:srgbClr val="4A4A45"/>
                </a:solidFill>
                <a:latin typeface="Lato" pitchFamily="34" charset="0"/>
                <a:ea typeface="Lato" pitchFamily="34" charset="-122"/>
                <a:cs typeface="Lato" pitchFamily="34" charset="-120"/>
              </a:rPr>
              <a:t> API and Groq AI models.</a:t>
            </a:r>
            <a:endParaRPr lang="en-US" sz="1750"/>
          </a:p>
        </p:txBody>
      </p:sp>
      <p:sp>
        <p:nvSpPr>
          <p:cNvPr id="10" name="Text 6">
            <a:extLst>
              <a:ext uri="{FF2B5EF4-FFF2-40B4-BE49-F238E27FC236}">
                <a16:creationId xmlns:a16="http://schemas.microsoft.com/office/drawing/2014/main" id="{B9231FE8-EDC5-A052-901B-82D707C5113E}"/>
              </a:ext>
            </a:extLst>
          </p:cNvPr>
          <p:cNvSpPr/>
          <p:nvPr/>
        </p:nvSpPr>
        <p:spPr>
          <a:xfrm>
            <a:off x="1230670" y="4584302"/>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Multilingual Support:</a:t>
            </a:r>
            <a:r>
              <a:rPr lang="en-US" sz="1750">
                <a:solidFill>
                  <a:srgbClr val="4A4A45"/>
                </a:solidFill>
                <a:latin typeface="Lato" pitchFamily="34" charset="0"/>
                <a:ea typeface="Lato" pitchFamily="34" charset="-122"/>
                <a:cs typeface="Lato" pitchFamily="34" charset="-120"/>
              </a:rPr>
              <a:t> Google Translate API (English + 8 Indian languages).</a:t>
            </a:r>
            <a:endParaRPr lang="en-US" sz="1750"/>
          </a:p>
        </p:txBody>
      </p:sp>
      <p:sp>
        <p:nvSpPr>
          <p:cNvPr id="11" name="Text 7">
            <a:extLst>
              <a:ext uri="{FF2B5EF4-FFF2-40B4-BE49-F238E27FC236}">
                <a16:creationId xmlns:a16="http://schemas.microsoft.com/office/drawing/2014/main" id="{49F449DD-5947-89F7-1A15-E3D722CC42E1}"/>
              </a:ext>
            </a:extLst>
          </p:cNvPr>
          <p:cNvSpPr/>
          <p:nvPr/>
        </p:nvSpPr>
        <p:spPr>
          <a:xfrm>
            <a:off x="1230670" y="5026499"/>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b="1">
                <a:solidFill>
                  <a:srgbClr val="4A4A45"/>
                </a:solidFill>
                <a:latin typeface="Lato" pitchFamily="34" charset="0"/>
                <a:ea typeface="Lato" pitchFamily="34" charset="-122"/>
                <a:cs typeface="Lato" pitchFamily="34" charset="-120"/>
              </a:rPr>
              <a:t>Deployment:</a:t>
            </a:r>
            <a:r>
              <a:rPr lang="en-US" sz="1750">
                <a:solidFill>
                  <a:srgbClr val="4A4A45"/>
                </a:solidFill>
                <a:latin typeface="Lato" pitchFamily="34" charset="0"/>
                <a:ea typeface="Lato" pitchFamily="34" charset="-122"/>
                <a:cs typeface="Lato" pitchFamily="34" charset="-120"/>
              </a:rPr>
              <a:t> Hosted on Vercel with integrated environment variables.</a:t>
            </a:r>
            <a:endParaRPr lang="en-US" sz="1750"/>
          </a:p>
        </p:txBody>
      </p:sp>
      <p:pic>
        <p:nvPicPr>
          <p:cNvPr id="15" name="Picture 14">
            <a:extLst>
              <a:ext uri="{FF2B5EF4-FFF2-40B4-BE49-F238E27FC236}">
                <a16:creationId xmlns:a16="http://schemas.microsoft.com/office/drawing/2014/main" id="{5D9D4A8D-A43C-6EB9-5096-2587B0B1B3AC}"/>
              </a:ext>
            </a:extLst>
          </p:cNvPr>
          <p:cNvPicPr>
            <a:picLocks noChangeAspect="1"/>
          </p:cNvPicPr>
          <p:nvPr/>
        </p:nvPicPr>
        <p:blipFill>
          <a:blip r:embed="rId3">
            <a:extLst>
              <a:ext uri="{28A0092B-C50C-407E-A947-70E740481C1C}">
                <a14:useLocalDpi xmlns:a14="http://schemas.microsoft.com/office/drawing/2010/main" val="0"/>
              </a:ext>
            </a:extLst>
          </a:blip>
          <a:srcRect l="-299" t="23393" r="81204" b="1981"/>
          <a:stretch>
            <a:fillRect/>
          </a:stretch>
        </p:blipFill>
        <p:spPr>
          <a:xfrm>
            <a:off x="8787091" y="1468598"/>
            <a:ext cx="1442719" cy="2417929"/>
          </a:xfrm>
          <a:prstGeom prst="rect">
            <a:avLst/>
          </a:prstGeom>
        </p:spPr>
      </p:pic>
      <p:pic>
        <p:nvPicPr>
          <p:cNvPr id="17" name="Picture 16">
            <a:extLst>
              <a:ext uri="{FF2B5EF4-FFF2-40B4-BE49-F238E27FC236}">
                <a16:creationId xmlns:a16="http://schemas.microsoft.com/office/drawing/2014/main" id="{35DD238F-8C19-0BF5-7890-7707F6E35552}"/>
              </a:ext>
            </a:extLst>
          </p:cNvPr>
          <p:cNvPicPr>
            <a:picLocks noChangeAspect="1"/>
          </p:cNvPicPr>
          <p:nvPr/>
        </p:nvPicPr>
        <p:blipFill>
          <a:blip r:embed="rId3">
            <a:extLst>
              <a:ext uri="{28A0092B-C50C-407E-A947-70E740481C1C}">
                <a14:useLocalDpi xmlns:a14="http://schemas.microsoft.com/office/drawing/2010/main" val="0"/>
              </a:ext>
            </a:extLst>
          </a:blip>
          <a:srcRect l="19355" t="36884" r="61271" b="25301"/>
          <a:stretch>
            <a:fillRect/>
          </a:stretch>
        </p:blipFill>
        <p:spPr>
          <a:xfrm>
            <a:off x="10229810" y="1468598"/>
            <a:ext cx="1576110" cy="1186299"/>
          </a:xfrm>
          <a:prstGeom prst="rect">
            <a:avLst/>
          </a:prstGeom>
        </p:spPr>
      </p:pic>
      <p:pic>
        <p:nvPicPr>
          <p:cNvPr id="19" name="Picture 18">
            <a:extLst>
              <a:ext uri="{FF2B5EF4-FFF2-40B4-BE49-F238E27FC236}">
                <a16:creationId xmlns:a16="http://schemas.microsoft.com/office/drawing/2014/main" id="{E80A99D6-91C1-5DDF-DD1B-835DFA5B3CC0}"/>
              </a:ext>
            </a:extLst>
          </p:cNvPr>
          <p:cNvPicPr>
            <a:picLocks noChangeAspect="1"/>
          </p:cNvPicPr>
          <p:nvPr/>
        </p:nvPicPr>
        <p:blipFill>
          <a:blip r:embed="rId3">
            <a:extLst>
              <a:ext uri="{28A0092B-C50C-407E-A947-70E740481C1C}">
                <a14:useLocalDpi xmlns:a14="http://schemas.microsoft.com/office/drawing/2010/main" val="0"/>
              </a:ext>
            </a:extLst>
          </a:blip>
          <a:srcRect l="39568" t="33884" r="40685" b="29908"/>
          <a:stretch>
            <a:fillRect/>
          </a:stretch>
        </p:blipFill>
        <p:spPr>
          <a:xfrm>
            <a:off x="10229810" y="2629969"/>
            <a:ext cx="1576110" cy="1256558"/>
          </a:xfrm>
          <a:prstGeom prst="rect">
            <a:avLst/>
          </a:prstGeom>
        </p:spPr>
      </p:pic>
      <p:pic>
        <p:nvPicPr>
          <p:cNvPr id="21" name="Picture 20">
            <a:extLst>
              <a:ext uri="{FF2B5EF4-FFF2-40B4-BE49-F238E27FC236}">
                <a16:creationId xmlns:a16="http://schemas.microsoft.com/office/drawing/2014/main" id="{37ACC857-ECC3-A9AA-59EE-495C4D14446B}"/>
              </a:ext>
            </a:extLst>
          </p:cNvPr>
          <p:cNvPicPr>
            <a:picLocks noChangeAspect="1"/>
          </p:cNvPicPr>
          <p:nvPr/>
        </p:nvPicPr>
        <p:blipFill>
          <a:blip r:embed="rId3">
            <a:extLst>
              <a:ext uri="{28A0092B-C50C-407E-A947-70E740481C1C}">
                <a14:useLocalDpi xmlns:a14="http://schemas.microsoft.com/office/drawing/2010/main" val="0"/>
              </a:ext>
            </a:extLst>
          </a:blip>
          <a:srcRect l="59780" t="32917" r="21405" b="13183"/>
          <a:stretch>
            <a:fillRect/>
          </a:stretch>
        </p:blipFill>
        <p:spPr>
          <a:xfrm>
            <a:off x="8787091" y="3894177"/>
            <a:ext cx="1417516" cy="1428750"/>
          </a:xfrm>
          <a:prstGeom prst="rect">
            <a:avLst/>
          </a:prstGeom>
        </p:spPr>
      </p:pic>
      <p:pic>
        <p:nvPicPr>
          <p:cNvPr id="23" name="Picture 22">
            <a:extLst>
              <a:ext uri="{FF2B5EF4-FFF2-40B4-BE49-F238E27FC236}">
                <a16:creationId xmlns:a16="http://schemas.microsoft.com/office/drawing/2014/main" id="{101DC6C1-17EF-38E0-DA94-D1E48CD96388}"/>
              </a:ext>
            </a:extLst>
          </p:cNvPr>
          <p:cNvPicPr>
            <a:picLocks noChangeAspect="1"/>
          </p:cNvPicPr>
          <p:nvPr/>
        </p:nvPicPr>
        <p:blipFill>
          <a:blip r:embed="rId3">
            <a:extLst>
              <a:ext uri="{28A0092B-C50C-407E-A947-70E740481C1C}">
                <a14:useLocalDpi xmlns:a14="http://schemas.microsoft.com/office/drawing/2010/main" val="0"/>
              </a:ext>
            </a:extLst>
          </a:blip>
          <a:srcRect l="80729" t="38596" b="21219"/>
          <a:stretch>
            <a:fillRect/>
          </a:stretch>
        </p:blipFill>
        <p:spPr>
          <a:xfrm>
            <a:off x="10204607" y="3881357"/>
            <a:ext cx="1626517" cy="1454390"/>
          </a:xfrm>
          <a:prstGeom prst="rect">
            <a:avLst/>
          </a:prstGeom>
        </p:spPr>
      </p:pic>
      <p:pic>
        <p:nvPicPr>
          <p:cNvPr id="25" name="Picture 24">
            <a:extLst>
              <a:ext uri="{FF2B5EF4-FFF2-40B4-BE49-F238E27FC236}">
                <a16:creationId xmlns:a16="http://schemas.microsoft.com/office/drawing/2014/main" id="{20F4DDFB-A143-F713-0515-438C9DEADC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2735" y="1485233"/>
            <a:ext cx="3003084" cy="38248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27304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1F26-151F-7DC6-6B38-63520DAF1560}"/>
              </a:ext>
            </a:extLst>
          </p:cNvPr>
          <p:cNvSpPr>
            <a:spLocks noGrp="1"/>
          </p:cNvSpPr>
          <p:nvPr>
            <p:ph type="title"/>
          </p:nvPr>
        </p:nvSpPr>
        <p:spPr/>
        <p:txBody>
          <a:bodyPr/>
          <a:lstStyle/>
          <a:p>
            <a:r>
              <a:rPr lang="en-US">
                <a:solidFill>
                  <a:schemeClr val="tx1"/>
                </a:solidFill>
                <a:latin typeface="Lato Bold"/>
                <a:ea typeface="Calibri Light"/>
                <a:cs typeface="Calibri Light"/>
              </a:rPr>
              <a:t>Performance And Results</a:t>
            </a:r>
            <a:endParaRPr lang="en-US">
              <a:solidFill>
                <a:schemeClr val="tx1"/>
              </a:solidFill>
              <a:latin typeface="Lato Bold"/>
              <a:ea typeface="Lato"/>
              <a:cs typeface="Lato"/>
            </a:endParaRPr>
          </a:p>
        </p:txBody>
      </p:sp>
      <p:graphicFrame>
        <p:nvGraphicFramePr>
          <p:cNvPr id="5" name="Table 4">
            <a:extLst>
              <a:ext uri="{FF2B5EF4-FFF2-40B4-BE49-F238E27FC236}">
                <a16:creationId xmlns:a16="http://schemas.microsoft.com/office/drawing/2014/main" id="{AFDE749B-7A2D-29A9-7384-0F5A5435FEC0}"/>
              </a:ext>
            </a:extLst>
          </p:cNvPr>
          <p:cNvGraphicFramePr>
            <a:graphicFrameLocks noGrp="1"/>
          </p:cNvGraphicFramePr>
          <p:nvPr>
            <p:extLst>
              <p:ext uri="{D42A27DB-BD31-4B8C-83A1-F6EECF244321}">
                <p14:modId xmlns:p14="http://schemas.microsoft.com/office/powerpoint/2010/main" val="69447959"/>
              </p:ext>
            </p:extLst>
          </p:nvPr>
        </p:nvGraphicFramePr>
        <p:xfrm>
          <a:off x="12337676" y="5793441"/>
          <a:ext cx="2604918" cy="365760"/>
        </p:xfrm>
        <a:graphic>
          <a:graphicData uri="http://schemas.openxmlformats.org/drawingml/2006/table">
            <a:tbl>
              <a:tblPr firstRow="1" bandRow="1">
                <a:tableStyleId>{5C22544A-7EE6-4342-B048-85BDC9FD1C3A}</a:tableStyleId>
              </a:tblPr>
              <a:tblGrid>
                <a:gridCol w="868306">
                  <a:extLst>
                    <a:ext uri="{9D8B030D-6E8A-4147-A177-3AD203B41FA5}">
                      <a16:colId xmlns:a16="http://schemas.microsoft.com/office/drawing/2014/main" val="1403318371"/>
                    </a:ext>
                  </a:extLst>
                </a:gridCol>
                <a:gridCol w="868306">
                  <a:extLst>
                    <a:ext uri="{9D8B030D-6E8A-4147-A177-3AD203B41FA5}">
                      <a16:colId xmlns:a16="http://schemas.microsoft.com/office/drawing/2014/main" val="3516775146"/>
                    </a:ext>
                  </a:extLst>
                </a:gridCol>
                <a:gridCol w="868306">
                  <a:extLst>
                    <a:ext uri="{9D8B030D-6E8A-4147-A177-3AD203B41FA5}">
                      <a16:colId xmlns:a16="http://schemas.microsoft.com/office/drawing/2014/main" val="1690048920"/>
                    </a:ext>
                  </a:extLst>
                </a:gridCol>
              </a:tblGrid>
              <a:tr h="0">
                <a:tc>
                  <a:txBody>
                    <a:bodyPr/>
                    <a:lstStyle/>
                    <a:p>
                      <a:endParaRPr lang="en-US"/>
                    </a:p>
                  </a:txBody>
                  <a:tcPr>
                    <a:noFill/>
                  </a:tcPr>
                </a:tc>
                <a:tc>
                  <a:txBody>
                    <a:bodyPr/>
                    <a:lstStyle/>
                    <a:p>
                      <a:pPr algn="ctr"/>
                      <a:endParaRPr lang="en-US"/>
                    </a:p>
                  </a:txBody>
                  <a:tcPr>
                    <a:noFill/>
                  </a:tcPr>
                </a:tc>
                <a:tc>
                  <a:txBody>
                    <a:bodyPr/>
                    <a:lstStyle/>
                    <a:p>
                      <a:endParaRPr lang="en-US"/>
                    </a:p>
                  </a:txBody>
                  <a:tcPr>
                    <a:noFill/>
                  </a:tcPr>
                </a:tc>
                <a:extLst>
                  <a:ext uri="{0D108BD9-81ED-4DB2-BD59-A6C34878D82A}">
                    <a16:rowId xmlns:a16="http://schemas.microsoft.com/office/drawing/2014/main" val="2675297356"/>
                  </a:ext>
                </a:extLst>
              </a:tr>
            </a:tbl>
          </a:graphicData>
        </a:graphic>
      </p:graphicFrame>
      <p:sp>
        <p:nvSpPr>
          <p:cNvPr id="9" name="TextBox 8">
            <a:extLst>
              <a:ext uri="{FF2B5EF4-FFF2-40B4-BE49-F238E27FC236}">
                <a16:creationId xmlns:a16="http://schemas.microsoft.com/office/drawing/2014/main" id="{7AE97BD6-51B2-FB77-9129-FD28F2A03B8F}"/>
              </a:ext>
            </a:extLst>
          </p:cNvPr>
          <p:cNvSpPr txBox="1"/>
          <p:nvPr/>
        </p:nvSpPr>
        <p:spPr>
          <a:xfrm>
            <a:off x="1873637" y="2719281"/>
            <a:ext cx="12989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latin typeface="Lato Bold"/>
                <a:ea typeface="Calibri"/>
                <a:cs typeface="Calibri"/>
              </a:rPr>
              <a:t>90%</a:t>
            </a:r>
            <a:endParaRPr lang="en-US" sz="4000">
              <a:latin typeface="Lato Bold"/>
              <a:ea typeface="Lato Bold"/>
              <a:cs typeface="Angsana New"/>
            </a:endParaRPr>
          </a:p>
        </p:txBody>
      </p:sp>
      <p:sp>
        <p:nvSpPr>
          <p:cNvPr id="10" name="TextBox 9">
            <a:extLst>
              <a:ext uri="{FF2B5EF4-FFF2-40B4-BE49-F238E27FC236}">
                <a16:creationId xmlns:a16="http://schemas.microsoft.com/office/drawing/2014/main" id="{44A0868E-89F9-3290-A8DB-221B23F50850}"/>
              </a:ext>
            </a:extLst>
          </p:cNvPr>
          <p:cNvSpPr txBox="1"/>
          <p:nvPr/>
        </p:nvSpPr>
        <p:spPr>
          <a:xfrm>
            <a:off x="1714501" y="3429000"/>
            <a:ext cx="16136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latin typeface="Lato Bold"/>
                <a:ea typeface="Lato Bold"/>
                <a:cs typeface="Lato Bold"/>
              </a:rPr>
              <a:t>Accuracy</a:t>
            </a:r>
            <a:endParaRPr lang="en-US"/>
          </a:p>
        </p:txBody>
      </p:sp>
      <p:sp>
        <p:nvSpPr>
          <p:cNvPr id="11" name="TextBox 10">
            <a:extLst>
              <a:ext uri="{FF2B5EF4-FFF2-40B4-BE49-F238E27FC236}">
                <a16:creationId xmlns:a16="http://schemas.microsoft.com/office/drawing/2014/main" id="{1AE6CFF2-EBB1-5340-CE9D-8FF86B91000C}"/>
              </a:ext>
            </a:extLst>
          </p:cNvPr>
          <p:cNvSpPr txBox="1"/>
          <p:nvPr/>
        </p:nvSpPr>
        <p:spPr>
          <a:xfrm>
            <a:off x="560294" y="4045323"/>
            <a:ext cx="3922060" cy="132343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2000">
                <a:solidFill>
                  <a:srgbClr val="4A4A45"/>
                </a:solidFill>
                <a:latin typeface="Lato"/>
                <a:ea typeface="Segoe UI"/>
                <a:cs typeface="Segoe UI"/>
              </a:rPr>
              <a:t>The system achieves over 90% accuracy in</a:t>
            </a:r>
            <a:endParaRPr lang="en-US" sz="2000">
              <a:solidFill>
                <a:srgbClr val="000000"/>
              </a:solidFill>
              <a:latin typeface="Calibri" panose="020F0502020204030204"/>
              <a:ea typeface="Calibri" panose="020F0502020204030204"/>
              <a:cs typeface="Calibri" panose="020F0502020204030204"/>
            </a:endParaRPr>
          </a:p>
          <a:p>
            <a:pPr algn="ctr"/>
            <a:r>
              <a:rPr lang="en-US" sz="2000">
                <a:solidFill>
                  <a:srgbClr val="4A4A45"/>
                </a:solidFill>
                <a:latin typeface="Lato"/>
                <a:ea typeface="Segoe UI"/>
                <a:cs typeface="Segoe UI"/>
              </a:rPr>
              <a:t>entity extraction and data mapping.</a:t>
            </a:r>
            <a:r>
              <a:rPr sz="2000">
                <a:latin typeface="Lato"/>
                <a:ea typeface="Lato"/>
                <a:cs typeface="Lato"/>
              </a:rPr>
              <a:t>​</a:t>
            </a:r>
            <a:endParaRPr lang="en-US" sz="2000">
              <a:ea typeface="Calibri"/>
              <a:cs typeface="Calibri"/>
            </a:endParaRPr>
          </a:p>
        </p:txBody>
      </p:sp>
      <p:sp>
        <p:nvSpPr>
          <p:cNvPr id="12" name="TextBox 11">
            <a:extLst>
              <a:ext uri="{FF2B5EF4-FFF2-40B4-BE49-F238E27FC236}">
                <a16:creationId xmlns:a16="http://schemas.microsoft.com/office/drawing/2014/main" id="{AC4EB22E-9CF7-0FC7-5F85-42F89C02753D}"/>
              </a:ext>
            </a:extLst>
          </p:cNvPr>
          <p:cNvSpPr txBox="1"/>
          <p:nvPr/>
        </p:nvSpPr>
        <p:spPr>
          <a:xfrm>
            <a:off x="5759824" y="2723029"/>
            <a:ext cx="131108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a:latin typeface="Lato Bold"/>
                <a:ea typeface="Lato Bold"/>
                <a:cs typeface="Lato Bold"/>
              </a:rPr>
              <a:t>3-5</a:t>
            </a:r>
            <a:endParaRPr lang="en-US"/>
          </a:p>
        </p:txBody>
      </p:sp>
      <p:sp>
        <p:nvSpPr>
          <p:cNvPr id="13" name="TextBox 12">
            <a:extLst>
              <a:ext uri="{FF2B5EF4-FFF2-40B4-BE49-F238E27FC236}">
                <a16:creationId xmlns:a16="http://schemas.microsoft.com/office/drawing/2014/main" id="{ECCA18B1-2A7F-E8BA-A398-C4EA7125F75D}"/>
              </a:ext>
            </a:extLst>
          </p:cNvPr>
          <p:cNvSpPr txBox="1"/>
          <p:nvPr/>
        </p:nvSpPr>
        <p:spPr>
          <a:xfrm>
            <a:off x="5759823" y="3429000"/>
            <a:ext cx="144555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latin typeface="Lato Bold"/>
                <a:ea typeface="Lato Bold"/>
                <a:cs typeface="Lato Bold"/>
              </a:rPr>
              <a:t>Speed</a:t>
            </a:r>
            <a:endParaRPr lang="en-US"/>
          </a:p>
        </p:txBody>
      </p:sp>
      <p:sp>
        <p:nvSpPr>
          <p:cNvPr id="14" name="TextBox 13">
            <a:extLst>
              <a:ext uri="{FF2B5EF4-FFF2-40B4-BE49-F238E27FC236}">
                <a16:creationId xmlns:a16="http://schemas.microsoft.com/office/drawing/2014/main" id="{327DD5C1-59D9-115C-D2A5-B2B6406B4473}"/>
              </a:ext>
            </a:extLst>
          </p:cNvPr>
          <p:cNvSpPr txBox="1"/>
          <p:nvPr/>
        </p:nvSpPr>
        <p:spPr>
          <a:xfrm>
            <a:off x="4482352" y="4045323"/>
            <a:ext cx="389964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4A4A45"/>
                </a:solidFill>
                <a:latin typeface="Lato"/>
                <a:ea typeface="Segoe UI"/>
                <a:cs typeface="Segoe UI"/>
              </a:rPr>
              <a:t>Average processing time is between </a:t>
            </a:r>
            <a:endParaRPr lang="en-US" sz="2000">
              <a:solidFill>
                <a:srgbClr val="000000"/>
              </a:solidFill>
              <a:latin typeface="Lato"/>
              <a:ea typeface="Calibri" panose="020F0502020204030204"/>
              <a:cs typeface="Calibri" panose="020F0502020204030204"/>
            </a:endParaRPr>
          </a:p>
          <a:p>
            <a:pPr algn="ctr"/>
            <a:r>
              <a:rPr lang="en-US" sz="2000">
                <a:solidFill>
                  <a:srgbClr val="4A4A45"/>
                </a:solidFill>
                <a:latin typeface="Lato"/>
                <a:ea typeface="Segoe UI"/>
                <a:cs typeface="Segoe UI"/>
              </a:rPr>
              <a:t>3–5seconds </a:t>
            </a:r>
            <a:r>
              <a:rPr lang="en-US">
                <a:solidFill>
                  <a:srgbClr val="4A4A45"/>
                </a:solidFill>
                <a:latin typeface="Lato"/>
                <a:ea typeface="Segoe UI"/>
                <a:cs typeface="Segoe UI"/>
              </a:rPr>
              <a:t>per</a:t>
            </a:r>
            <a:r>
              <a:rPr lang="en-US" sz="2000">
                <a:solidFill>
                  <a:srgbClr val="4A4A45"/>
                </a:solidFill>
                <a:latin typeface="Lato"/>
                <a:ea typeface="Segoe UI"/>
                <a:cs typeface="Segoe UI"/>
              </a:rPr>
              <a:t> document.</a:t>
            </a:r>
            <a:r>
              <a:rPr sz="2000">
                <a:latin typeface="Lato"/>
                <a:ea typeface="Lato"/>
                <a:cs typeface="Lato"/>
              </a:rPr>
              <a:t>​</a:t>
            </a:r>
            <a:endParaRPr lang="en-US" sz="2000">
              <a:latin typeface="Lato"/>
              <a:ea typeface="Calibri" panose="020F0502020204030204"/>
              <a:cs typeface="Calibri" panose="020F0502020204030204"/>
            </a:endParaRPr>
          </a:p>
        </p:txBody>
      </p:sp>
      <p:cxnSp>
        <p:nvCxnSpPr>
          <p:cNvPr id="15" name="Straight Arrow Connector 14">
            <a:extLst>
              <a:ext uri="{FF2B5EF4-FFF2-40B4-BE49-F238E27FC236}">
                <a16:creationId xmlns:a16="http://schemas.microsoft.com/office/drawing/2014/main" id="{19FCD494-7347-C6D7-C0B0-CECFF6DCD878}"/>
              </a:ext>
            </a:extLst>
          </p:cNvPr>
          <p:cNvCxnSpPr/>
          <p:nvPr/>
        </p:nvCxnSpPr>
        <p:spPr>
          <a:xfrm>
            <a:off x="4393414" y="2304586"/>
            <a:ext cx="28001" cy="3472227"/>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CB40898-BF29-2461-9D3C-61A3C2597B38}"/>
              </a:ext>
            </a:extLst>
          </p:cNvPr>
          <p:cNvCxnSpPr>
            <a:cxnSpLocks/>
          </p:cNvCxnSpPr>
          <p:nvPr/>
        </p:nvCxnSpPr>
        <p:spPr>
          <a:xfrm>
            <a:off x="8293061" y="2315792"/>
            <a:ext cx="28001" cy="347222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65B98958-981E-CF30-7695-2D5A8E9E250E}"/>
              </a:ext>
            </a:extLst>
          </p:cNvPr>
          <p:cNvSpPr txBox="1"/>
          <p:nvPr/>
        </p:nvSpPr>
        <p:spPr>
          <a:xfrm>
            <a:off x="8505265" y="4045324"/>
            <a:ext cx="348503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solidFill>
                  <a:srgbClr val="4A4A45"/>
                </a:solidFill>
                <a:latin typeface="Lato"/>
                <a:ea typeface="Segoe UI"/>
                <a:cs typeface="Segoe UI"/>
              </a:rPr>
              <a:t>Significantly reduces the time and effort</a:t>
            </a:r>
            <a:endParaRPr lang="en-US" sz="2000">
              <a:solidFill>
                <a:srgbClr val="000000"/>
              </a:solidFill>
              <a:latin typeface="Lato"/>
              <a:ea typeface="Calibri" panose="020F0502020204030204"/>
              <a:cs typeface="Calibri" panose="020F0502020204030204"/>
            </a:endParaRPr>
          </a:p>
          <a:p>
            <a:pPr algn="ctr"/>
            <a:r>
              <a:rPr lang="en-US" sz="2000">
                <a:solidFill>
                  <a:srgbClr val="4A4A45"/>
                </a:solidFill>
                <a:latin typeface="Lato"/>
                <a:ea typeface="Segoe UI"/>
                <a:cs typeface="Segoe UI"/>
              </a:rPr>
              <a:t>required for senior citizens to access</a:t>
            </a:r>
            <a:endParaRPr lang="en-US" sz="2000">
              <a:solidFill>
                <a:srgbClr val="000000"/>
              </a:solidFill>
              <a:latin typeface="Lato"/>
              <a:ea typeface="Calibri"/>
              <a:cs typeface="Calibri"/>
            </a:endParaRPr>
          </a:p>
          <a:p>
            <a:pPr algn="ctr"/>
            <a:r>
              <a:rPr lang="en-US" sz="2000">
                <a:solidFill>
                  <a:srgbClr val="4A4A45"/>
                </a:solidFill>
                <a:latin typeface="Lato"/>
                <a:ea typeface="Segoe UI"/>
                <a:cs typeface="Segoe UI"/>
              </a:rPr>
              <a:t>digital government services.</a:t>
            </a:r>
            <a:r>
              <a:rPr sz="2000">
                <a:latin typeface="Lato"/>
                <a:ea typeface="Lato"/>
                <a:cs typeface="Lato"/>
              </a:rPr>
              <a:t>​</a:t>
            </a:r>
            <a:endParaRPr lang="en-US" sz="2000">
              <a:latin typeface="Lato"/>
              <a:ea typeface="Calibri"/>
              <a:cs typeface="Calibri"/>
            </a:endParaRPr>
          </a:p>
        </p:txBody>
      </p:sp>
      <p:sp>
        <p:nvSpPr>
          <p:cNvPr id="18" name="TextBox 17">
            <a:extLst>
              <a:ext uri="{FF2B5EF4-FFF2-40B4-BE49-F238E27FC236}">
                <a16:creationId xmlns:a16="http://schemas.microsoft.com/office/drawing/2014/main" id="{A0B6A3B7-5D7F-2E8A-18EE-7CD69A596A8B}"/>
              </a:ext>
            </a:extLst>
          </p:cNvPr>
          <p:cNvSpPr txBox="1"/>
          <p:nvPr/>
        </p:nvSpPr>
        <p:spPr>
          <a:xfrm>
            <a:off x="9256059" y="3429000"/>
            <a:ext cx="19946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Lato Bold"/>
              </a:rPr>
              <a:t>Social Impact</a:t>
            </a:r>
            <a:endParaRPr lang="en-US"/>
          </a:p>
        </p:txBody>
      </p:sp>
      <p:sp>
        <p:nvSpPr>
          <p:cNvPr id="19" name="TextBox 18">
            <a:extLst>
              <a:ext uri="{FF2B5EF4-FFF2-40B4-BE49-F238E27FC236}">
                <a16:creationId xmlns:a16="http://schemas.microsoft.com/office/drawing/2014/main" id="{932EB170-878E-90EE-4673-DCC84199F8C6}"/>
              </a:ext>
            </a:extLst>
          </p:cNvPr>
          <p:cNvSpPr txBox="1"/>
          <p:nvPr/>
        </p:nvSpPr>
        <p:spPr>
          <a:xfrm>
            <a:off x="9906000" y="2723029"/>
            <a:ext cx="70597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latin typeface="Lato Bold"/>
                <a:ea typeface="Lato Bold"/>
                <a:cs typeface="Lato Bold"/>
              </a:rPr>
              <a:t>--</a:t>
            </a:r>
          </a:p>
        </p:txBody>
      </p:sp>
      <p:pic>
        <p:nvPicPr>
          <p:cNvPr id="20" name="Graphic 19" descr="Bullseye with solid fill">
            <a:extLst>
              <a:ext uri="{FF2B5EF4-FFF2-40B4-BE49-F238E27FC236}">
                <a16:creationId xmlns:a16="http://schemas.microsoft.com/office/drawing/2014/main" id="{D5AF5ED6-FEB0-A447-9B6E-4605DCBB906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32212" y="2030505"/>
            <a:ext cx="589430" cy="690283"/>
          </a:xfrm>
          <a:prstGeom prst="rect">
            <a:avLst/>
          </a:prstGeom>
        </p:spPr>
      </p:pic>
      <p:pic>
        <p:nvPicPr>
          <p:cNvPr id="21" name="Graphic 20" descr="Gauge with solid fill">
            <a:extLst>
              <a:ext uri="{FF2B5EF4-FFF2-40B4-BE49-F238E27FC236}">
                <a16:creationId xmlns:a16="http://schemas.microsoft.com/office/drawing/2014/main" id="{92EFA81B-69C7-9E92-661E-45FD10F5AE2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31006" y="2030506"/>
            <a:ext cx="757518" cy="701489"/>
          </a:xfrm>
          <a:prstGeom prst="rect">
            <a:avLst/>
          </a:prstGeom>
        </p:spPr>
      </p:pic>
    </p:spTree>
    <p:extLst>
      <p:ext uri="{BB962C8B-B14F-4D97-AF65-F5344CB8AC3E}">
        <p14:creationId xmlns:p14="http://schemas.microsoft.com/office/powerpoint/2010/main" val="1147609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hape 2">
            <a:extLst>
              <a:ext uri="{FF2B5EF4-FFF2-40B4-BE49-F238E27FC236}">
                <a16:creationId xmlns:a16="http://schemas.microsoft.com/office/drawing/2014/main" id="{C2A411E9-4BEC-3378-F599-45EBDCD56074}"/>
              </a:ext>
            </a:extLst>
          </p:cNvPr>
          <p:cNvSpPr/>
          <p:nvPr/>
        </p:nvSpPr>
        <p:spPr>
          <a:xfrm>
            <a:off x="6173699" y="2590873"/>
            <a:ext cx="5251453" cy="3247865"/>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sp>
      <p:sp>
        <p:nvSpPr>
          <p:cNvPr id="3" name="Shape 2">
            <a:extLst>
              <a:ext uri="{FF2B5EF4-FFF2-40B4-BE49-F238E27FC236}">
                <a16:creationId xmlns:a16="http://schemas.microsoft.com/office/drawing/2014/main" id="{32D329A6-49DD-6F02-026D-68DB31BBF5D8}"/>
              </a:ext>
            </a:extLst>
          </p:cNvPr>
          <p:cNvSpPr/>
          <p:nvPr/>
        </p:nvSpPr>
        <p:spPr>
          <a:xfrm>
            <a:off x="423444" y="2590873"/>
            <a:ext cx="5251453" cy="3012903"/>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sp>
      <p:sp>
        <p:nvSpPr>
          <p:cNvPr id="4" name="TextBox 3">
            <a:extLst>
              <a:ext uri="{FF2B5EF4-FFF2-40B4-BE49-F238E27FC236}">
                <a16:creationId xmlns:a16="http://schemas.microsoft.com/office/drawing/2014/main" id="{214F3A34-D9F6-6733-7024-7471C958072B}"/>
              </a:ext>
            </a:extLst>
          </p:cNvPr>
          <p:cNvSpPr txBox="1"/>
          <p:nvPr/>
        </p:nvSpPr>
        <p:spPr>
          <a:xfrm>
            <a:off x="626302" y="326198"/>
            <a:ext cx="7066766" cy="1054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50" b="1">
                <a:solidFill>
                  <a:srgbClr val="282824"/>
                </a:solidFill>
                <a:latin typeface="Lato Bold"/>
                <a:ea typeface="Lato Bold"/>
                <a:cs typeface="Lato Bold"/>
              </a:rPr>
              <a:t>Roles And Responsibilities</a:t>
            </a:r>
          </a:p>
          <a:p>
            <a:pPr algn="ctr"/>
            <a:endParaRPr lang="en-US"/>
          </a:p>
        </p:txBody>
      </p:sp>
      <p:sp>
        <p:nvSpPr>
          <p:cNvPr id="5" name="TextBox 4">
            <a:extLst>
              <a:ext uri="{FF2B5EF4-FFF2-40B4-BE49-F238E27FC236}">
                <a16:creationId xmlns:a16="http://schemas.microsoft.com/office/drawing/2014/main" id="{D645473D-05E9-AF9B-7EE8-F4371403DDF2}"/>
              </a:ext>
            </a:extLst>
          </p:cNvPr>
          <p:cNvSpPr txBox="1"/>
          <p:nvPr/>
        </p:nvSpPr>
        <p:spPr>
          <a:xfrm>
            <a:off x="868056" y="1526100"/>
            <a:ext cx="2324151" cy="5040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6" name="TextBox 5">
            <a:extLst>
              <a:ext uri="{FF2B5EF4-FFF2-40B4-BE49-F238E27FC236}">
                <a16:creationId xmlns:a16="http://schemas.microsoft.com/office/drawing/2014/main" id="{93A66546-0106-BFC1-8D1F-830540D94C39}"/>
              </a:ext>
            </a:extLst>
          </p:cNvPr>
          <p:cNvSpPr txBox="1"/>
          <p:nvPr/>
        </p:nvSpPr>
        <p:spPr>
          <a:xfrm>
            <a:off x="554373" y="1430317"/>
            <a:ext cx="5265702"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a:latin typeface="Lato"/>
                <a:ea typeface="Calibri"/>
                <a:cs typeface="Calibri"/>
              </a:rPr>
              <a:t>Member 1: Anushka </a:t>
            </a:r>
            <a:r>
              <a:rPr lang="en-US" sz="2000" b="1" err="1">
                <a:latin typeface="Lato"/>
                <a:ea typeface="Calibri"/>
                <a:cs typeface="Calibri"/>
              </a:rPr>
              <a:t>Bhuskat</a:t>
            </a:r>
            <a:endParaRPr lang="en-US" sz="2000" b="1">
              <a:latin typeface="Lato"/>
              <a:ea typeface="Calibri"/>
              <a:cs typeface="Calibri"/>
            </a:endParaRPr>
          </a:p>
          <a:p>
            <a:pPr>
              <a:lnSpc>
                <a:spcPct val="150000"/>
              </a:lnSpc>
            </a:pPr>
            <a:r>
              <a:rPr lang="en-US" sz="2000" b="1" u="sng">
                <a:ea typeface="+mn-lt"/>
                <a:cs typeface="+mn-lt"/>
              </a:rPr>
              <a:t>Role</a:t>
            </a:r>
            <a:r>
              <a:rPr lang="en-US" sz="2000" b="1">
                <a:ea typeface="+mn-lt"/>
                <a:cs typeface="+mn-lt"/>
              </a:rPr>
              <a:t>: Frontend Development &amp; Deployment.</a:t>
            </a:r>
          </a:p>
          <a:p>
            <a:endParaRPr lang="en-US" b="1">
              <a:ea typeface="+mn-lt"/>
              <a:cs typeface="+mn-lt"/>
            </a:endParaRPr>
          </a:p>
          <a:p>
            <a:r>
              <a:rPr lang="en-US" sz="2000" u="sng">
                <a:ea typeface="+mn-lt"/>
                <a:cs typeface="+mn-lt"/>
              </a:rPr>
              <a:t>Technologies Used</a:t>
            </a:r>
            <a:r>
              <a:rPr lang="en-US" sz="2000">
                <a:ea typeface="+mn-lt"/>
                <a:cs typeface="+mn-lt"/>
              </a:rPr>
              <a:t>:</a:t>
            </a:r>
            <a:endParaRPr lang="en-US">
              <a:ea typeface="Calibri" panose="020F0502020204030204"/>
              <a:cs typeface="Calibri" panose="020F0502020204030204"/>
            </a:endParaRPr>
          </a:p>
          <a:p>
            <a:endParaRPr lang="en-US" sz="2000" u="sng">
              <a:ea typeface="+mn-lt"/>
              <a:cs typeface="+mn-lt"/>
            </a:endParaRPr>
          </a:p>
          <a:p>
            <a:r>
              <a:rPr lang="en-US" sz="2000" u="sng">
                <a:ea typeface="+mn-lt"/>
                <a:cs typeface="+mn-lt"/>
              </a:rPr>
              <a:t>Developed</a:t>
            </a:r>
            <a:r>
              <a:rPr lang="en-US" sz="2000">
                <a:ea typeface="+mn-lt"/>
                <a:cs typeface="+mn-lt"/>
              </a:rPr>
              <a:t>: </a:t>
            </a:r>
          </a:p>
          <a:p>
            <a:endParaRPr lang="en-US" sz="2000">
              <a:ea typeface="+mn-lt"/>
              <a:cs typeface="+mn-lt"/>
            </a:endParaRPr>
          </a:p>
        </p:txBody>
      </p:sp>
      <p:sp>
        <p:nvSpPr>
          <p:cNvPr id="7" name="TextBox 6">
            <a:extLst>
              <a:ext uri="{FF2B5EF4-FFF2-40B4-BE49-F238E27FC236}">
                <a16:creationId xmlns:a16="http://schemas.microsoft.com/office/drawing/2014/main" id="{4B0C17E2-CB55-2D4E-1B05-BCB89427C8D7}"/>
              </a:ext>
            </a:extLst>
          </p:cNvPr>
          <p:cNvSpPr txBox="1"/>
          <p:nvPr/>
        </p:nvSpPr>
        <p:spPr>
          <a:xfrm>
            <a:off x="6224872" y="2373499"/>
            <a:ext cx="5727024" cy="39549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ea typeface="Calibri"/>
              <a:cs typeface="Calibri"/>
            </a:endParaRPr>
          </a:p>
          <a:p>
            <a:pPr rtl="0"/>
            <a:r>
              <a:rPr lang="en-US" sz="2000" u="sng" baseline="0">
                <a:latin typeface="Calibri"/>
                <a:ea typeface="Segoe UI"/>
                <a:cs typeface="Segoe UI"/>
              </a:rPr>
              <a:t>Technologies Used</a:t>
            </a:r>
            <a:r>
              <a:rPr lang="en-US" sz="2000" baseline="0">
                <a:latin typeface="Calibri"/>
                <a:ea typeface="Segoe UI"/>
                <a:cs typeface="Segoe UI"/>
              </a:rPr>
              <a:t>:</a:t>
            </a:r>
            <a:r>
              <a:rPr lang="en-US" sz="2000">
                <a:latin typeface="Calibri"/>
                <a:ea typeface="Segoe UI"/>
                <a:cs typeface="Segoe UI"/>
              </a:rPr>
              <a:t>​</a:t>
            </a:r>
          </a:p>
          <a:p>
            <a:pPr marL="342900" indent="-342900" rtl="0">
              <a:buFont typeface="Arial" panose="020B0604020202020204" pitchFamily="34" charset="0"/>
              <a:buChar char="•"/>
            </a:pP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Supabase</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a: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OCR</a:t>
            </a:r>
            <a:r>
              <a:rPr lang="en-US" sz="1750" baseline="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t>
            </a: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space</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API, </a:t>
            </a: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Groq</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AI.</a:t>
            </a:r>
          </a:p>
          <a:p>
            <a:r>
              <a:rPr lang="en-US" sz="2000" u="sng" baseline="0">
                <a:latin typeface="Calibri"/>
                <a:ea typeface="Segoe UI"/>
                <a:cs typeface="Segoe UI"/>
              </a:rPr>
              <a:t>Developed</a:t>
            </a:r>
            <a:r>
              <a:rPr lang="en-US" sz="2000" baseline="0">
                <a:latin typeface="Calibri"/>
                <a:ea typeface="Segoe UI"/>
                <a:cs typeface="Segoe UI"/>
              </a:rPr>
              <a:t>:</a:t>
            </a:r>
          </a:p>
          <a:p>
            <a:pPr marL="342900" indent="-342900">
              <a:buFont typeface="Arial" panose="020B0604020202020204" pitchFamily="34" charset="0"/>
              <a:buChar char="•"/>
            </a:pP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Implemented </a:t>
            </a: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Supabase</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authentication (email</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&amp;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password).</a:t>
            </a:r>
          </a:p>
          <a:p>
            <a:pPr marL="342900" indent="-342900">
              <a:buFont typeface="Arial" panose="020B0604020202020204" pitchFamily="34" charset="0"/>
              <a:buChar char="•"/>
            </a:pP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Managed PostgreSQL database for form data.</a:t>
            </a:r>
          </a:p>
          <a:p>
            <a:pPr marL="342900" indent="-342900">
              <a:buFont typeface="Arial" panose="020B0604020202020204" pitchFamily="34" charset="0"/>
              <a:buChar char="•"/>
            </a:pP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Integrated OCR to extract text from PDFs </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and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images.</a:t>
            </a:r>
          </a:p>
          <a:p>
            <a:pPr marL="342900" indent="-342900">
              <a:buFont typeface="Arial" panose="020B0604020202020204" pitchFamily="34" charset="0"/>
              <a:buChar char="•"/>
            </a:pP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Used </a:t>
            </a:r>
            <a:r>
              <a:rPr lang="en-US" sz="1750" err="1">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Groq</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AI to: Process extracted text,</a:t>
            </a:r>
          </a:p>
          <a:p>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Convert unstructured data into structured 	form 	fields.</a:t>
            </a:r>
          </a:p>
          <a:p>
            <a:endPar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endParaRPr>
          </a:p>
          <a:p>
            <a:pPr algn="ctr"/>
            <a:endParaRPr lang="en-US"/>
          </a:p>
        </p:txBody>
      </p:sp>
      <p:cxnSp>
        <p:nvCxnSpPr>
          <p:cNvPr id="2" name="Straight Arrow Connector 1">
            <a:extLst>
              <a:ext uri="{FF2B5EF4-FFF2-40B4-BE49-F238E27FC236}">
                <a16:creationId xmlns:a16="http://schemas.microsoft.com/office/drawing/2014/main" id="{7A2B6A48-0EE0-5E41-4648-1F58DA55852C}"/>
              </a:ext>
            </a:extLst>
          </p:cNvPr>
          <p:cNvCxnSpPr/>
          <p:nvPr/>
        </p:nvCxnSpPr>
        <p:spPr>
          <a:xfrm>
            <a:off x="5939765" y="1581146"/>
            <a:ext cx="14250" cy="407583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0" name="Text 5">
            <a:extLst>
              <a:ext uri="{FF2B5EF4-FFF2-40B4-BE49-F238E27FC236}">
                <a16:creationId xmlns:a16="http://schemas.microsoft.com/office/drawing/2014/main" id="{19D2B7E7-A4C4-0F11-1DA8-C06213629970}"/>
              </a:ext>
            </a:extLst>
          </p:cNvPr>
          <p:cNvSpPr/>
          <p:nvPr/>
        </p:nvSpPr>
        <p:spPr>
          <a:xfrm>
            <a:off x="626302" y="3600271"/>
            <a:ext cx="4919358" cy="725805"/>
          </a:xfrm>
          <a:prstGeom prst="rect">
            <a:avLst/>
          </a:prstGeom>
          <a:noFill/>
          <a:ln/>
        </p:spPr>
        <p:txBody>
          <a:bodyPr wrap="square" lIns="0" tIns="0" rIns="0" bIns="0" rtlCol="0" anchor="t"/>
          <a:lstStyle/>
          <a:p>
            <a:pPr marL="285750" indent="-285750" algn="l">
              <a:buSzPct val="100000"/>
              <a:buFont typeface="Arial" panose="020B0604020202020204" pitchFamily="34" charset="0"/>
              <a:buChar char="•"/>
            </a:pPr>
            <a:r>
              <a:rPr lang="en-US" sz="1750">
                <a:solidFill>
                  <a:srgbClr val="4A4A45"/>
                </a:solidFill>
                <a:latin typeface="Lato" pitchFamily="34" charset="0"/>
                <a:ea typeface="Lato" pitchFamily="34" charset="-122"/>
                <a:cs typeface="Lato" pitchFamily="34" charset="-120"/>
              </a:rPr>
              <a:t>Designed the complete UI, including Login, Signup, and Document Upload screens.</a:t>
            </a:r>
          </a:p>
          <a:p>
            <a:pPr marL="285750" indent="-285750">
              <a:buSzPct val="100000"/>
              <a:buFont typeface="Arial" panose="020B0604020202020204" pitchFamily="34" charset="0"/>
              <a:buChar char="•"/>
            </a:pPr>
            <a:r>
              <a:rPr lang="en-US" sz="1750">
                <a:solidFill>
                  <a:srgbClr val="4A4A45"/>
                </a:solidFill>
                <a:latin typeface="Lato" pitchFamily="34" charset="0"/>
                <a:ea typeface="Lato" pitchFamily="34" charset="-122"/>
                <a:cs typeface="Lato" pitchFamily="34" charset="-120"/>
              </a:rPr>
              <a:t>Developed Auto-filled form preview interface.</a:t>
            </a:r>
          </a:p>
          <a:p>
            <a:pPr marL="285750" indent="-285750">
              <a:buSzPct val="100000"/>
              <a:buFont typeface="Arial" panose="020B0604020202020204" pitchFamily="34" charset="0"/>
              <a:buChar char="•"/>
            </a:pPr>
            <a:r>
              <a:rPr lang="en-US" sz="1750">
                <a:solidFill>
                  <a:srgbClr val="4A4A45"/>
                </a:solidFill>
                <a:latin typeface="Lato" pitchFamily="34" charset="0"/>
                <a:ea typeface="Lato" pitchFamily="34" charset="-122"/>
                <a:cs typeface="Lato" pitchFamily="34" charset="-120"/>
              </a:rPr>
              <a:t>Ensured the design is responsive and user-friendly for non-technical citizens.</a:t>
            </a:r>
          </a:p>
          <a:p>
            <a:pPr marL="285750" indent="-285750">
              <a:buSzPct val="100000"/>
              <a:buFont typeface="Arial" panose="020B0604020202020204" pitchFamily="34" charset="0"/>
              <a:buChar char="•"/>
            </a:pPr>
            <a:r>
              <a:rPr lang="en-US" sz="1750">
                <a:solidFill>
                  <a:srgbClr val="4A4A45"/>
                </a:solidFill>
                <a:latin typeface="Lato" pitchFamily="34" charset="0"/>
                <a:ea typeface="Lato" pitchFamily="34" charset="-122"/>
                <a:cs typeface="Lato" pitchFamily="34" charset="-120"/>
              </a:rPr>
              <a:t>Managed application deployment on </a:t>
            </a:r>
            <a:r>
              <a:rPr lang="en-US" sz="1750" err="1">
                <a:solidFill>
                  <a:srgbClr val="4A4A45"/>
                </a:solidFill>
                <a:latin typeface="Lato" pitchFamily="34" charset="0"/>
                <a:ea typeface="Lato" pitchFamily="34" charset="-122"/>
                <a:cs typeface="Lato" pitchFamily="34" charset="-120"/>
              </a:rPr>
              <a:t>Vercel</a:t>
            </a:r>
            <a:r>
              <a:rPr lang="en-US" sz="1750">
                <a:solidFill>
                  <a:srgbClr val="4A4A45"/>
                </a:solidFill>
                <a:latin typeface="Lato" pitchFamily="34" charset="0"/>
                <a:ea typeface="Lato" pitchFamily="34" charset="-122"/>
                <a:cs typeface="Lato" pitchFamily="34" charset="-120"/>
              </a:rPr>
              <a:t>.</a:t>
            </a:r>
            <a:endParaRPr lang="en-US" sz="1750"/>
          </a:p>
          <a:p>
            <a:pPr marL="285750" indent="-285750">
              <a:buSzPct val="100000"/>
              <a:buFont typeface="Arial" panose="020B0604020202020204" pitchFamily="34" charset="0"/>
              <a:buChar char="•"/>
            </a:pPr>
            <a:endParaRPr lang="en-US" sz="1750"/>
          </a:p>
          <a:p>
            <a:pPr marL="285750" indent="-285750">
              <a:buSzPct val="100000"/>
              <a:buFont typeface="Arial" panose="020B0604020202020204" pitchFamily="34" charset="0"/>
              <a:buChar char="•"/>
            </a:pPr>
            <a:endParaRPr lang="en-US" sz="1750"/>
          </a:p>
          <a:p>
            <a:pPr marL="285750" indent="-285750" algn="l">
              <a:buSzPct val="100000"/>
              <a:buFont typeface="Arial" panose="020B0604020202020204" pitchFamily="34" charset="0"/>
              <a:buChar char="•"/>
            </a:pPr>
            <a:endParaRPr lang="en-US" sz="1750">
              <a:solidFill>
                <a:srgbClr val="4A4A45"/>
              </a:solidFill>
              <a:latin typeface="Lato" pitchFamily="34" charset="0"/>
              <a:ea typeface="Lato" pitchFamily="34" charset="-122"/>
              <a:cs typeface="Lato" pitchFamily="34" charset="-120"/>
            </a:endParaRPr>
          </a:p>
          <a:p>
            <a:pPr marL="285750" indent="-285750" algn="l">
              <a:buSzPct val="100000"/>
              <a:buFont typeface="Arial" panose="020B0604020202020204" pitchFamily="34" charset="0"/>
              <a:buChar char="•"/>
            </a:pPr>
            <a:endParaRPr lang="en-US" sz="1750">
              <a:solidFill>
                <a:srgbClr val="4A4A45"/>
              </a:solidFill>
              <a:latin typeface="Lato" pitchFamily="34" charset="0"/>
              <a:ea typeface="Lato" pitchFamily="34" charset="-122"/>
              <a:cs typeface="Lato" pitchFamily="34" charset="-120"/>
            </a:endParaRPr>
          </a:p>
          <a:p>
            <a:pPr marL="342900" indent="-342900" algn="l">
              <a:buSzPct val="100000"/>
              <a:buChar char="•"/>
            </a:pPr>
            <a:endParaRPr lang="en-US" sz="1750"/>
          </a:p>
        </p:txBody>
      </p:sp>
      <p:sp>
        <p:nvSpPr>
          <p:cNvPr id="14" name="Text 8">
            <a:extLst>
              <a:ext uri="{FF2B5EF4-FFF2-40B4-BE49-F238E27FC236}">
                <a16:creationId xmlns:a16="http://schemas.microsoft.com/office/drawing/2014/main" id="{B09C57CE-415B-02BF-0748-01DC164265E6}"/>
              </a:ext>
            </a:extLst>
          </p:cNvPr>
          <p:cNvSpPr/>
          <p:nvPr/>
        </p:nvSpPr>
        <p:spPr>
          <a:xfrm>
            <a:off x="626302" y="2982580"/>
            <a:ext cx="6950393" cy="362903"/>
          </a:xfrm>
          <a:prstGeom prst="rect">
            <a:avLst/>
          </a:prstGeom>
          <a:noFill/>
          <a:ln/>
        </p:spPr>
        <p:txBody>
          <a:bodyPr wrap="none" lIns="0" tIns="0" rIns="0" bIns="0" rtlCol="0" anchor="t"/>
          <a:lstStyle/>
          <a:p>
            <a:pPr marL="285750" indent="-285750">
              <a:lnSpc>
                <a:spcPts val="2850"/>
              </a:lnSpc>
              <a:buSzPct val="100000"/>
              <a:buFont typeface="Arial" panose="020B0604020202020204" pitchFamily="34" charset="0"/>
              <a:buChar char="•"/>
            </a:pPr>
            <a:r>
              <a:rPr lang="en-US" sz="1750" err="1">
                <a:solidFill>
                  <a:srgbClr val="4A4A45"/>
                </a:solidFill>
                <a:latin typeface="Lato" pitchFamily="34" charset="0"/>
                <a:ea typeface="Calibri" panose="020F0502020204030204"/>
                <a:cs typeface="Calibri" panose="020F0502020204030204"/>
              </a:rPr>
              <a:t>Next.Js</a:t>
            </a:r>
            <a:r>
              <a:rPr lang="en-US" sz="1750">
                <a:solidFill>
                  <a:srgbClr val="4A4A45"/>
                </a:solidFill>
                <a:latin typeface="Lato" pitchFamily="34" charset="0"/>
                <a:ea typeface="Calibri" panose="020F0502020204030204"/>
                <a:cs typeface="Calibri" panose="020F0502020204030204"/>
              </a:rPr>
              <a:t>, react.19, Tailwind CSS, </a:t>
            </a:r>
            <a:r>
              <a:rPr lang="en-US" sz="1750" err="1">
                <a:solidFill>
                  <a:srgbClr val="4A4A45"/>
                </a:solidFill>
                <a:latin typeface="Lato" pitchFamily="34" charset="0"/>
                <a:ea typeface="Calibri" panose="020F0502020204030204"/>
                <a:cs typeface="Calibri" panose="020F0502020204030204"/>
              </a:rPr>
              <a:t>Shadcn</a:t>
            </a:r>
            <a:r>
              <a:rPr lang="en-US" sz="1750">
                <a:solidFill>
                  <a:srgbClr val="4A4A45"/>
                </a:solidFill>
                <a:latin typeface="Lato" pitchFamily="34" charset="0"/>
                <a:ea typeface="Calibri" panose="020F0502020204030204"/>
                <a:cs typeface="Calibri" panose="020F0502020204030204"/>
              </a:rPr>
              <a:t>/</a:t>
            </a:r>
            <a:r>
              <a:rPr lang="en-US" sz="1750" err="1">
                <a:solidFill>
                  <a:srgbClr val="4A4A45"/>
                </a:solidFill>
                <a:latin typeface="Lato" pitchFamily="34" charset="0"/>
                <a:ea typeface="Calibri" panose="020F0502020204030204"/>
                <a:cs typeface="Calibri" panose="020F0502020204030204"/>
              </a:rPr>
              <a:t>ui</a:t>
            </a:r>
            <a:r>
              <a:rPr lang="en-US" sz="1750">
                <a:solidFill>
                  <a:srgbClr val="4A4A45"/>
                </a:solidFill>
                <a:latin typeface="Lato" pitchFamily="34" charset="0"/>
                <a:ea typeface="Lato" pitchFamily="34" charset="-122"/>
                <a:cs typeface="Lato" pitchFamily="34" charset="-120"/>
              </a:rPr>
              <a:t>.</a:t>
            </a:r>
            <a:endParaRPr lang="en-US" sz="1750"/>
          </a:p>
        </p:txBody>
      </p:sp>
      <p:sp>
        <p:nvSpPr>
          <p:cNvPr id="15" name="TextBox 14">
            <a:extLst>
              <a:ext uri="{FF2B5EF4-FFF2-40B4-BE49-F238E27FC236}">
                <a16:creationId xmlns:a16="http://schemas.microsoft.com/office/drawing/2014/main" id="{3C447D1F-1AD5-CA9E-4617-CF87075BAB12}"/>
              </a:ext>
            </a:extLst>
          </p:cNvPr>
          <p:cNvSpPr txBox="1"/>
          <p:nvPr/>
        </p:nvSpPr>
        <p:spPr>
          <a:xfrm>
            <a:off x="6224872" y="1430317"/>
            <a:ext cx="5265702" cy="9679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a:latin typeface="Lato"/>
                <a:ea typeface="Calibri"/>
                <a:cs typeface="Calibri"/>
              </a:rPr>
              <a:t>Member 2: Gauri Pakhare</a:t>
            </a:r>
          </a:p>
          <a:p>
            <a:pPr>
              <a:lnSpc>
                <a:spcPct val="150000"/>
              </a:lnSpc>
            </a:pPr>
            <a:r>
              <a:rPr lang="en-US" sz="2000" b="1" u="sng">
                <a:ea typeface="+mn-lt"/>
                <a:cs typeface="+mn-lt"/>
              </a:rPr>
              <a:t>Role</a:t>
            </a:r>
            <a:r>
              <a:rPr lang="en-US" sz="2000" b="1">
                <a:ea typeface="+mn-lt"/>
                <a:cs typeface="+mn-lt"/>
              </a:rPr>
              <a:t>: Authentication, Database &amp; AI Processing.</a:t>
            </a:r>
            <a:endParaRPr lang="en-US" sz="2000">
              <a:ea typeface="+mn-lt"/>
              <a:cs typeface="+mn-lt"/>
            </a:endParaRPr>
          </a:p>
        </p:txBody>
      </p:sp>
    </p:spTree>
    <p:extLst>
      <p:ext uri="{BB962C8B-B14F-4D97-AF65-F5344CB8AC3E}">
        <p14:creationId xmlns:p14="http://schemas.microsoft.com/office/powerpoint/2010/main" val="1351766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13E9789A-EEE4-C0F1-24AD-72542112D389}"/>
              </a:ext>
            </a:extLst>
          </p:cNvPr>
          <p:cNvSpPr/>
          <p:nvPr/>
        </p:nvSpPr>
        <p:spPr>
          <a:xfrm>
            <a:off x="626302" y="2355998"/>
            <a:ext cx="5757561" cy="3507906"/>
          </a:xfrm>
          <a:prstGeom prst="roundRect">
            <a:avLst>
              <a:gd name="adj" fmla="val 3529"/>
            </a:avLst>
          </a:prstGeom>
          <a:solidFill>
            <a:schemeClr val="accent1">
              <a:lumMod val="20000"/>
              <a:lumOff val="80000"/>
            </a:schemeClr>
          </a:solidFill>
          <a:ln w="30480">
            <a:solidFill>
              <a:schemeClr val="accent1">
                <a:lumMod val="40000"/>
                <a:lumOff val="60000"/>
              </a:schemeClr>
            </a:solidFill>
            <a:prstDash val="solid"/>
          </a:ln>
        </p:spPr>
        <p:txBody>
          <a:bodyPr/>
          <a:lstStyle/>
          <a:p>
            <a:endParaRPr lang="en-IN"/>
          </a:p>
        </p:txBody>
      </p:sp>
      <p:sp>
        <p:nvSpPr>
          <p:cNvPr id="4" name="TextBox 3">
            <a:extLst>
              <a:ext uri="{FF2B5EF4-FFF2-40B4-BE49-F238E27FC236}">
                <a16:creationId xmlns:a16="http://schemas.microsoft.com/office/drawing/2014/main" id="{BF159AD9-B2BD-1B96-56C4-A90365BB6AAC}"/>
              </a:ext>
            </a:extLst>
          </p:cNvPr>
          <p:cNvSpPr txBox="1"/>
          <p:nvPr/>
        </p:nvSpPr>
        <p:spPr>
          <a:xfrm>
            <a:off x="626302" y="1210384"/>
            <a:ext cx="8194109" cy="13882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lnSpc>
                <a:spcPct val="150000"/>
              </a:lnSpc>
            </a:pPr>
            <a:r>
              <a:rPr lang="en-US" sz="2000" b="1" baseline="0">
                <a:latin typeface="Lato"/>
                <a:ea typeface="Segoe UI"/>
                <a:cs typeface="Segoe UI"/>
              </a:rPr>
              <a:t>Member 3:​</a:t>
            </a:r>
            <a:r>
              <a:rPr lang="en-US" sz="2000" b="1">
                <a:latin typeface="Lato"/>
                <a:ea typeface="Segoe UI"/>
                <a:cs typeface="Segoe UI"/>
              </a:rPr>
              <a:t>​ Ruchita Gandhi</a:t>
            </a:r>
          </a:p>
          <a:p>
            <a:pPr>
              <a:lnSpc>
                <a:spcPct val="150000"/>
              </a:lnSpc>
            </a:pPr>
            <a:r>
              <a:rPr lang="en-US" sz="2000" b="1" u="sng" baseline="0">
                <a:latin typeface="Calibri"/>
                <a:ea typeface="Segoe UI"/>
                <a:cs typeface="Segoe UI"/>
              </a:rPr>
              <a:t>Role</a:t>
            </a:r>
            <a:r>
              <a:rPr lang="en-US" sz="2000" b="1" baseline="0">
                <a:latin typeface="Calibri"/>
                <a:ea typeface="Segoe UI"/>
                <a:cs typeface="Segoe UI"/>
              </a:rPr>
              <a:t>:</a:t>
            </a:r>
            <a:r>
              <a:rPr lang="en-US" sz="2000" b="1">
                <a:latin typeface="Calibri"/>
                <a:ea typeface="Segoe UI"/>
                <a:cs typeface="Segoe UI"/>
              </a:rPr>
              <a:t> </a:t>
            </a:r>
            <a:r>
              <a:rPr lang="en-US" sz="2000" b="1" baseline="0">
                <a:latin typeface="Calibri"/>
                <a:ea typeface="Segoe UI"/>
                <a:cs typeface="Segoe UI"/>
              </a:rPr>
              <a:t>Backend Development &amp;</a:t>
            </a:r>
            <a:r>
              <a:rPr lang="en-US" sz="2000" b="1">
                <a:latin typeface="Calibri"/>
                <a:ea typeface="Segoe UI"/>
                <a:cs typeface="Segoe UI"/>
              </a:rPr>
              <a:t> </a:t>
            </a:r>
            <a:r>
              <a:rPr lang="en-US" sz="2000" b="1" baseline="0">
                <a:latin typeface="Calibri"/>
                <a:ea typeface="Segoe UI"/>
                <a:cs typeface="Segoe UI"/>
              </a:rPr>
              <a:t>Advanced Features</a:t>
            </a:r>
            <a:r>
              <a:rPr lang="en-US" sz="2000" b="1">
                <a:latin typeface="Calibri"/>
                <a:ea typeface="Segoe UI"/>
                <a:cs typeface="Segoe UI"/>
              </a:rPr>
              <a:t>​</a:t>
            </a:r>
          </a:p>
          <a:p>
            <a:pPr algn="ctr">
              <a:lnSpc>
                <a:spcPct val="150000"/>
              </a:lnSpc>
            </a:pPr>
            <a:endParaRPr lang="en-US"/>
          </a:p>
        </p:txBody>
      </p:sp>
      <p:sp>
        <p:nvSpPr>
          <p:cNvPr id="5" name="TextBox 4">
            <a:extLst>
              <a:ext uri="{FF2B5EF4-FFF2-40B4-BE49-F238E27FC236}">
                <a16:creationId xmlns:a16="http://schemas.microsoft.com/office/drawing/2014/main" id="{84B155C7-CB93-BD3F-7A2E-638B45ECA6C9}"/>
              </a:ext>
            </a:extLst>
          </p:cNvPr>
          <p:cNvSpPr txBox="1"/>
          <p:nvPr/>
        </p:nvSpPr>
        <p:spPr>
          <a:xfrm>
            <a:off x="950658" y="2455279"/>
            <a:ext cx="5757561" cy="34086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2000" u="sng" baseline="0">
                <a:latin typeface="Calibri"/>
                <a:ea typeface="Segoe UI"/>
                <a:cs typeface="Segoe UI"/>
              </a:rPr>
              <a:t>Technologies Used</a:t>
            </a:r>
            <a:r>
              <a:rPr lang="en-US" sz="2000" baseline="0">
                <a:latin typeface="Calibri"/>
                <a:ea typeface="Segoe UI"/>
                <a:cs typeface="Segoe UI"/>
              </a:rPr>
              <a:t>:​</a:t>
            </a:r>
            <a:r>
              <a:rPr lang="en-US" sz="2000">
                <a:latin typeface="Calibri"/>
                <a:ea typeface="Segoe UI"/>
                <a:cs typeface="Segoe UI"/>
              </a:rPr>
              <a:t>​</a:t>
            </a:r>
          </a:p>
          <a:p>
            <a:pPr marL="285750" indent="-285750" rtl="0">
              <a:buFont typeface="Arial" panose="020B0604020202020204" pitchFamily="34" charset="0"/>
              <a:buChar char="•"/>
            </a:pP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Next.js API Routes</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Google Translate API.​</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t>
            </a:r>
          </a:p>
          <a:p>
            <a:r>
              <a:rPr lang="en-US" sz="2000" u="sng" baseline="0">
                <a:latin typeface="Calibri"/>
                <a:ea typeface="Segoe UI"/>
                <a:cs typeface="Segoe UI"/>
              </a:rPr>
              <a:t>Developed</a:t>
            </a:r>
            <a:r>
              <a:rPr lang="en-US" sz="2000" baseline="0">
                <a:latin typeface="Calibri"/>
                <a:ea typeface="Segoe UI"/>
                <a:cs typeface="Segoe UI"/>
              </a:rPr>
              <a:t>: </a:t>
            </a:r>
            <a:r>
              <a:rPr lang="en-US" sz="2000">
                <a:latin typeface="Calibri"/>
                <a:ea typeface="Segoe UI"/>
                <a:cs typeface="Segoe UI"/>
              </a:rPr>
              <a:t> </a:t>
            </a:r>
          </a:p>
          <a:p>
            <a:pPr marL="285750" indent="-285750">
              <a:buFont typeface="Arial" panose="020B0604020202020204" pitchFamily="34" charset="0"/>
              <a:buChar char="•"/>
            </a:pP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Backend APIs</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for: Form submission,</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Data update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and retrieval​. </a:t>
            </a:r>
          </a:p>
          <a:p>
            <a:pPr marL="285750" indent="-285750">
              <a:buFont typeface="Arial" panose="020B0604020202020204" pitchFamily="34" charset="0"/>
              <a:buChar char="•"/>
            </a:pP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Implemented secure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data validation</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and error handling</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t>
            </a:r>
          </a:p>
          <a:p>
            <a:pPr marL="285750" indent="-285750">
              <a:buFont typeface="Arial" panose="020B0604020202020204" pitchFamily="34" charset="0"/>
              <a:buChar char="•"/>
            </a:pP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Added multilingual support:</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English + 8 Indian languages.</a:t>
            </a:r>
          </a:p>
          <a:p>
            <a:pPr marL="285750" indent="-285750">
              <a:buFont typeface="Arial" panose="020B0604020202020204" pitchFamily="34" charset="0"/>
              <a:buChar char="•"/>
            </a:pP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Implemented PDF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Download Managed</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data flow </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between frontend</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 </a:t>
            </a:r>
            <a:r>
              <a:rPr lang="en-US" sz="1750" baseline="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AI, and database.</a:t>
            </a:r>
            <a:r>
              <a:rPr lang="en-US" sz="1750">
                <a:solidFill>
                  <a:schemeClr val="tx2">
                    <a:lumMod val="75000"/>
                  </a:schemeClr>
                </a:solidFill>
                <a:latin typeface="Lato" panose="020F0502020204030203" pitchFamily="34" charset="0"/>
                <a:ea typeface="Lato" panose="020F0502020204030203" pitchFamily="34" charset="0"/>
                <a:cs typeface="Lato" panose="020F0502020204030203" pitchFamily="34" charset="0"/>
              </a:rPr>
              <a:t>​</a:t>
            </a:r>
          </a:p>
          <a:p>
            <a:pPr algn="ctr"/>
            <a:endParaRPr lang="en-US"/>
          </a:p>
        </p:txBody>
      </p:sp>
      <p:sp>
        <p:nvSpPr>
          <p:cNvPr id="10" name="TextBox 9">
            <a:extLst>
              <a:ext uri="{FF2B5EF4-FFF2-40B4-BE49-F238E27FC236}">
                <a16:creationId xmlns:a16="http://schemas.microsoft.com/office/drawing/2014/main" id="{9EA1797B-D4F9-8DAD-2155-37F03EFEB28B}"/>
              </a:ext>
            </a:extLst>
          </p:cNvPr>
          <p:cNvSpPr txBox="1"/>
          <p:nvPr/>
        </p:nvSpPr>
        <p:spPr>
          <a:xfrm>
            <a:off x="626302" y="326198"/>
            <a:ext cx="7066766" cy="10541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50" b="1">
                <a:solidFill>
                  <a:srgbClr val="282824"/>
                </a:solidFill>
                <a:latin typeface="Lato Bold"/>
                <a:ea typeface="Lato Bold"/>
                <a:cs typeface="Lato Bold"/>
              </a:rPr>
              <a:t>Roles And Responsibilities</a:t>
            </a:r>
          </a:p>
          <a:p>
            <a:pPr algn="ctr"/>
            <a:endParaRPr lang="en-US"/>
          </a:p>
        </p:txBody>
      </p:sp>
      <p:pic>
        <p:nvPicPr>
          <p:cNvPr id="14" name="Picture 13">
            <a:extLst>
              <a:ext uri="{FF2B5EF4-FFF2-40B4-BE49-F238E27FC236}">
                <a16:creationId xmlns:a16="http://schemas.microsoft.com/office/drawing/2014/main" id="{55B1E8E9-DD71-E35F-F4F4-D9BB5295A7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3313" y="1320276"/>
            <a:ext cx="4295164" cy="2789675"/>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6B820917-786B-77E4-9A73-FB2104AED7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7360" y="2598585"/>
            <a:ext cx="4177719" cy="287942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2631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DD809-4D9C-56CA-32A6-8BC9C5732E11}"/>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60CE93F1-D4A3-48B6-887F-82F5801ECDD0}"/>
              </a:ext>
            </a:extLst>
          </p:cNvPr>
          <p:cNvSpPr/>
          <p:nvPr/>
        </p:nvSpPr>
        <p:spPr>
          <a:xfrm>
            <a:off x="661492" y="4820544"/>
            <a:ext cx="6297018" cy="604838"/>
          </a:xfrm>
          <a:prstGeom prst="rect">
            <a:avLst/>
          </a:prstGeom>
          <a:noFill/>
          <a:ln/>
        </p:spPr>
        <p:txBody>
          <a:bodyPr wrap="square" lIns="0" tIns="0" rIns="0" bIns="0" rtlCol="0" anchor="t"/>
          <a:lstStyle/>
          <a:p>
            <a:pPr>
              <a:lnSpc>
                <a:spcPts val="2375"/>
              </a:lnSpc>
            </a:pPr>
            <a:endParaRPr lang="en-US" sz="1458"/>
          </a:p>
        </p:txBody>
      </p:sp>
      <p:sp>
        <p:nvSpPr>
          <p:cNvPr id="2" name="Text 2">
            <a:extLst>
              <a:ext uri="{FF2B5EF4-FFF2-40B4-BE49-F238E27FC236}">
                <a16:creationId xmlns:a16="http://schemas.microsoft.com/office/drawing/2014/main" id="{739FF16F-0479-7CB8-AFC7-642F0EA9A454}"/>
              </a:ext>
            </a:extLst>
          </p:cNvPr>
          <p:cNvSpPr/>
          <p:nvPr/>
        </p:nvSpPr>
        <p:spPr>
          <a:xfrm>
            <a:off x="1567861" y="5120253"/>
            <a:ext cx="6297018" cy="604838"/>
          </a:xfrm>
          <a:prstGeom prst="rect">
            <a:avLst/>
          </a:prstGeom>
          <a:noFill/>
          <a:ln/>
        </p:spPr>
        <p:txBody>
          <a:bodyPr wrap="square" lIns="0" tIns="0" rIns="0" bIns="0" rtlCol="0" anchor="t"/>
          <a:lstStyle/>
          <a:p>
            <a:pPr>
              <a:lnSpc>
                <a:spcPts val="2375"/>
              </a:lnSpc>
            </a:pPr>
            <a:endParaRPr lang="en-US">
              <a:solidFill>
                <a:srgbClr val="0E048E"/>
              </a:solidFill>
            </a:endParaRPr>
          </a:p>
        </p:txBody>
      </p:sp>
      <p:sp>
        <p:nvSpPr>
          <p:cNvPr id="10" name="TextBox 9">
            <a:extLst>
              <a:ext uri="{FF2B5EF4-FFF2-40B4-BE49-F238E27FC236}">
                <a16:creationId xmlns:a16="http://schemas.microsoft.com/office/drawing/2014/main" id="{238D7EFE-E9FC-CFB1-79CD-002B519FDB59}"/>
              </a:ext>
            </a:extLst>
          </p:cNvPr>
          <p:cNvSpPr txBox="1"/>
          <p:nvPr/>
        </p:nvSpPr>
        <p:spPr>
          <a:xfrm>
            <a:off x="1150958" y="856737"/>
            <a:ext cx="3565412" cy="7771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450" dirty="0">
                <a:latin typeface="Lato Bold" panose="020F0502020204030203" pitchFamily="34" charset="0"/>
                <a:ea typeface="Lato Bold" panose="020F0502020204030203" pitchFamily="34" charset="0"/>
                <a:cs typeface="Lato Bold" panose="020F0502020204030203" pitchFamily="34" charset="0"/>
              </a:rPr>
              <a:t>Conclusion</a:t>
            </a:r>
          </a:p>
        </p:txBody>
      </p:sp>
      <p:sp>
        <p:nvSpPr>
          <p:cNvPr id="11" name="TextBox 10">
            <a:extLst>
              <a:ext uri="{FF2B5EF4-FFF2-40B4-BE49-F238E27FC236}">
                <a16:creationId xmlns:a16="http://schemas.microsoft.com/office/drawing/2014/main" id="{EFC0EA45-15D7-5DF4-CF8A-91E537BE10FE}"/>
              </a:ext>
            </a:extLst>
          </p:cNvPr>
          <p:cNvSpPr txBox="1"/>
          <p:nvPr/>
        </p:nvSpPr>
        <p:spPr>
          <a:xfrm>
            <a:off x="1150958" y="1818137"/>
            <a:ext cx="809960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dirty="0">
              <a:solidFill>
                <a:schemeClr val="tx1">
                  <a:lumMod val="95000"/>
                  <a:lumOff val="5000"/>
                </a:schemeClr>
              </a:solidFill>
              <a:latin typeface="Lato"/>
              <a:ea typeface="Lato"/>
              <a:cs typeface="Lato"/>
            </a:endParaRPr>
          </a:p>
          <a:p>
            <a:pPr algn="just"/>
            <a:r>
              <a:rPr lang="en-US" dirty="0">
                <a:solidFill>
                  <a:schemeClr val="tx1">
                    <a:lumMod val="95000"/>
                    <a:lumOff val="5000"/>
                  </a:schemeClr>
                </a:solidFill>
                <a:latin typeface="Lato"/>
                <a:ea typeface="Lato"/>
                <a:cs typeface="Lato"/>
              </a:rPr>
              <a:t>The AI-Powered Form Filling Assistant simplifies government form submission by automatically extracting details from uploaded documents like Aadhaar, PAN, and Voter ID. Using OCR and AI, it auto-fills the required fields, supports multiple languages and voice input, and allows users to review and edit the form before finalizing. This solution reduces manual effort, minimizes errors, and makes government services faster and more accessible. </a:t>
            </a:r>
            <a:r>
              <a:rPr lang="en-US" dirty="0">
                <a:solidFill>
                  <a:schemeClr val="tx1">
                    <a:lumMod val="95000"/>
                    <a:lumOff val="5000"/>
                  </a:schemeClr>
                </a:solidFill>
                <a:latin typeface="Lato"/>
                <a:ea typeface="Segoe UI"/>
                <a:cs typeface="Segoe UI"/>
              </a:rPr>
              <a:t>The </a:t>
            </a:r>
            <a:r>
              <a:rPr lang="en-US" dirty="0" err="1">
                <a:solidFill>
                  <a:schemeClr val="tx1">
                    <a:lumMod val="95000"/>
                    <a:lumOff val="5000"/>
                  </a:schemeClr>
                </a:solidFill>
                <a:latin typeface="Lato"/>
                <a:ea typeface="Segoe UI"/>
                <a:cs typeface="Segoe UI"/>
              </a:rPr>
              <a:t>SmartFormFiller</a:t>
            </a:r>
            <a:r>
              <a:rPr lang="en-US" dirty="0">
                <a:solidFill>
                  <a:schemeClr val="tx1">
                    <a:lumMod val="95000"/>
                    <a:lumOff val="5000"/>
                  </a:schemeClr>
                </a:solidFill>
                <a:latin typeface="Lato"/>
                <a:ea typeface="Segoe UI"/>
                <a:cs typeface="Segoe UI"/>
              </a:rPr>
              <a:t> bridges the digital gap for Indian citizens, providing a scalable, accurate and inclusive solution for e-governance.</a:t>
            </a:r>
            <a:r>
              <a:rPr lang="en-US" dirty="0">
                <a:solidFill>
                  <a:schemeClr val="tx1">
                    <a:lumMod val="95000"/>
                    <a:lumOff val="5000"/>
                  </a:schemeClr>
                </a:solidFill>
                <a:latin typeface="Lato"/>
                <a:ea typeface="Lato"/>
                <a:cs typeface="Lato"/>
              </a:rPr>
              <a:t>​</a:t>
            </a:r>
          </a:p>
        </p:txBody>
      </p:sp>
      <p:sp>
        <p:nvSpPr>
          <p:cNvPr id="3" name="TextBox 2">
            <a:extLst>
              <a:ext uri="{FF2B5EF4-FFF2-40B4-BE49-F238E27FC236}">
                <a16:creationId xmlns:a16="http://schemas.microsoft.com/office/drawing/2014/main" id="{3C5FE7A4-5600-FF21-DF00-A9AD92040649}"/>
              </a:ext>
            </a:extLst>
          </p:cNvPr>
          <p:cNvSpPr txBox="1"/>
          <p:nvPr/>
        </p:nvSpPr>
        <p:spPr>
          <a:xfrm>
            <a:off x="1150958" y="4635878"/>
            <a:ext cx="4068660" cy="830997"/>
          </a:xfrm>
          <a:prstGeom prst="rect">
            <a:avLst/>
          </a:prstGeom>
          <a:noFill/>
        </p:spPr>
        <p:txBody>
          <a:bodyPr wrap="square" rtlCol="0">
            <a:spAutoFit/>
          </a:bodyPr>
          <a:lstStyle/>
          <a:p>
            <a:r>
              <a:rPr lang="en-IN" sz="2400" dirty="0">
                <a:latin typeface="Lato Bold" panose="020F0502020204030203" pitchFamily="34" charset="0"/>
                <a:ea typeface="Lato Bold" panose="020F0502020204030203" pitchFamily="34" charset="0"/>
                <a:cs typeface="Lato Bold" panose="020F0502020204030203" pitchFamily="34" charset="0"/>
              </a:rPr>
              <a:t>Project Demonstration:</a:t>
            </a:r>
          </a:p>
          <a:p>
            <a:endParaRPr lang="en-IN" sz="2400" dirty="0">
              <a:latin typeface="Lato Bold" panose="020F0502020204030203" pitchFamily="34" charset="0"/>
              <a:ea typeface="Lato Bold" panose="020F0502020204030203" pitchFamily="34" charset="0"/>
              <a:cs typeface="Lato Bold" panose="020F0502020204030203" pitchFamily="34" charset="0"/>
            </a:endParaRPr>
          </a:p>
        </p:txBody>
      </p:sp>
      <p:sp>
        <p:nvSpPr>
          <p:cNvPr id="4" name="TextBox 3">
            <a:extLst>
              <a:ext uri="{FF2B5EF4-FFF2-40B4-BE49-F238E27FC236}">
                <a16:creationId xmlns:a16="http://schemas.microsoft.com/office/drawing/2014/main" id="{3BFE8323-8FB7-5676-3D1A-275C7D116ED6}"/>
              </a:ext>
            </a:extLst>
          </p:cNvPr>
          <p:cNvSpPr txBox="1"/>
          <p:nvPr/>
        </p:nvSpPr>
        <p:spPr>
          <a:xfrm>
            <a:off x="1153862" y="5205905"/>
            <a:ext cx="4555222" cy="369332"/>
          </a:xfrm>
          <a:prstGeom prst="rect">
            <a:avLst/>
          </a:prstGeom>
          <a:noFill/>
        </p:spPr>
        <p:txBody>
          <a:bodyPr wrap="square" rtlCol="0">
            <a:spAutoFit/>
          </a:bodyPr>
          <a:lstStyle/>
          <a:p>
            <a:r>
              <a:rPr lang="en-US" dirty="0">
                <a:solidFill>
                  <a:srgbClr val="0070C0"/>
                </a:solidFill>
                <a:hlinkClick r:id="rId3">
                  <a:extLst>
                    <a:ext uri="{A12FA001-AC4F-418D-AE19-62706E023703}">
                      <ahyp:hlinkClr xmlns:ahyp="http://schemas.microsoft.com/office/drawing/2018/hyperlinkcolor" val="tx"/>
                    </a:ext>
                  </a:extLst>
                </a:hlinkClick>
              </a:rPr>
              <a:t>Click to view </a:t>
            </a:r>
            <a:r>
              <a:rPr lang="en-US" dirty="0" err="1">
                <a:solidFill>
                  <a:srgbClr val="0070C0"/>
                </a:solidFill>
                <a:hlinkClick r:id="rId3">
                  <a:extLst>
                    <a:ext uri="{A12FA001-AC4F-418D-AE19-62706E023703}">
                      <ahyp:hlinkClr xmlns:ahyp="http://schemas.microsoft.com/office/drawing/2018/hyperlinkcolor" val="tx"/>
                    </a:ext>
                  </a:extLst>
                </a:hlinkClick>
              </a:rPr>
              <a:t>SmartFormFiller</a:t>
            </a:r>
            <a:r>
              <a:rPr lang="en-US" dirty="0">
                <a:solidFill>
                  <a:srgbClr val="0070C0"/>
                </a:solidFill>
                <a:hlinkClick r:id="rId3">
                  <a:extLst>
                    <a:ext uri="{A12FA001-AC4F-418D-AE19-62706E023703}">
                      <ahyp:hlinkClr xmlns:ahyp="http://schemas.microsoft.com/office/drawing/2018/hyperlinkcolor" val="tx"/>
                    </a:ext>
                  </a:extLst>
                </a:hlinkClick>
              </a:rPr>
              <a:t> website.</a:t>
            </a:r>
            <a:endParaRPr lang="en-IN" dirty="0">
              <a:solidFill>
                <a:srgbClr val="0070C0"/>
              </a:solidFill>
            </a:endParaRPr>
          </a:p>
        </p:txBody>
      </p:sp>
    </p:spTree>
    <p:extLst>
      <p:ext uri="{BB962C8B-B14F-4D97-AF65-F5344CB8AC3E}">
        <p14:creationId xmlns:p14="http://schemas.microsoft.com/office/powerpoint/2010/main" val="81895376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40</TotalTime>
  <Words>832</Words>
  <Application>Microsoft Office PowerPoint</Application>
  <PresentationFormat>Widescreen</PresentationFormat>
  <Paragraphs>102</Paragraphs>
  <Slides>8</Slides>
  <Notes>3</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Retrospect</vt:lpstr>
      <vt:lpstr>PowerPoint Presentation</vt:lpstr>
      <vt:lpstr>PowerPoint Presentation</vt:lpstr>
      <vt:lpstr>PowerPoint Presentation</vt:lpstr>
      <vt:lpstr>PowerPoint Presentation</vt:lpstr>
      <vt:lpstr>Performance And Results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Gauri Pakhare</dc:creator>
  <cp:lastModifiedBy>Gauri Pakhare</cp:lastModifiedBy>
  <cp:revision>4</cp:revision>
  <dcterms:created xsi:type="dcterms:W3CDTF">2026-01-02T09:08:21Z</dcterms:created>
  <dcterms:modified xsi:type="dcterms:W3CDTF">2026-01-05T11:32:01Z</dcterms:modified>
</cp:coreProperties>
</file>